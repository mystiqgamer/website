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(30-45s):</a:t>
            </a:r>
          </a:p>
          <a:p>
            <a:r>
              <a:t>Good morning judges and colleagues. We are Felix Louie Sojan and Adithya Jobies, and today we are excited to present KTU Nexus. With the implementation of the National Education Policy 2024 Scheme by APJ Abdul Kalam Technological University, engineering education in Kerala underwent a massive transformation. However, students and faculty were left stranded with fragmented regulations, strict new activity point constraints, and opaque internal evaluation math. KTU Nexus is the first unified academic intelligence system that completely solves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Let's look at the reality on the ground across 150+ KTU colleges. First, the 120 Activity Point Three-Group rule. Many students think they just need 120 points total—so they do 120 points of NPTEL courses. Under 2024 regulations, their degree will be denied because KTU mandates at least 40 points in Social and 40 points in Sports/Arts. Second, internal marks. Students often have no idea how their series exams and attendance combine, or how many marks they must get in the 100-mark university paper to pass. Third, there is no centralized repository covering all 5 branches with exact 15-mark module allocations.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Here is our solution: KTU Nexus. We built a high-performance, responsive academic platform with 87 complete courses, 435 mapped modules, and 437 curated past exam questions. It acts as a personal academic co-pilot for every engineering student in Kerala. Let's dive into each of the main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Notice the depth of our academic coverage. We didn't just build a demo with one or two subjects. We mapped all 8 semesters for Computer Science, Electronics, Electrical, Mechanical, Civil Engineering, and Computer Networking, plus the common foundation courses in S1 and S2. Every single course contains all 5 modules, the official KTU 2024 syllabus, 15-mark module allocations, and high-yield repeated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Here is our CIE &amp; Supply Risk Predictor. Under KTU regulations, you need a minimum of 40 out of 100 in the university written exam, plus at least 50% overall to pass. A student using our platform inputs their series marks and attendance. The system immediately calculates their exact internal mark out of 50 and generates a personalized target table. It tells them: 'You have 37 internals. You only need 40 in ESA to pass, or 63 to get an A grade.' This gives students clarity and eliminates exam anxiety.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Now let's examine our 120 Activity Points Auditor. In the 2024 scheme, KTU established 3 distinct groups. A student must achieve at least 40 points in Group 1, 40 points in Group 2, and 40 in Group 3. Our engine performs a live audit on the student's portfolio. If a student has 60 points in Group 3 and 40 in Group 2, but only 20 points in Group 1, the engine flags 'DEFICIT PENDING' in red, points out the 20-point deficit in Group 1, and recommends taking an emergency CPR training or getting their driving license verified.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We didn't stop at syllabi and calculators. We built interactive engineering visualizers. In Operating Systems, students always get tested on CPU scheduling Gantt charts. We built a live Gantt generator. In Digital Logic, students struggle with 4-variable K-maps. We built an interactive 16-cell Gray code solver. In Data Structures, students can insert keys into our BST lab and see the Inorder, Preorder, and Postorder traversals computed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(40s):</a:t>
            </a:r>
          </a:p>
          <a:p>
            <a:r>
              <a:t>Even when students know the theory, they lose marks because their answers lack the structure KTU evaluators demand. Our 10-Mark Answer Architect teaches students the exact blueprint: how much time to spend, which diagrams are non-negotiable, and how to format derivations. Coupled with our Revision Notebook that renders LaTeX math equations in real-time, students have everything they need to score top honors.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(45s):</a:t>
            </a:r>
          </a:p>
          <a:p>
            <a:r>
              <a:t>Under the hood, KTU Nexus is built on a clean Python Flask blueprint architecture. Our data assembler pipeline compiles modular curricula into lightning-fast in-memory catalogs. On the frontend, we designed a bespoke clean design system with 4 distinct presets, replacing the cliché hackathon dark-cyan look. It includes tactile Web Audio feedback and instant KaTeX mathematical rendering. The codebase has a comprehensive automated test suite verifying all 2024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(40s):</a:t>
            </a:r>
          </a:p>
          <a:p>
            <a:r>
              <a:t>Looking at the impact: KTU has over 150 engineering colleges and 150,000 students. Our roadmap includes an AI Question Paper Predictor and a Flutter mobile app. Because our curriculum engine is modular, this platform can easily scale to VTU in Karnataka, Anna University in Tamil Nadu, and JNTU in Telangana.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(30s):</a:t>
            </a:r>
          </a:p>
          <a:p>
            <a:r>
              <a:t>In conclusion, KTU Nexus transforms the B.Tech journey from one of anxiety and confusion into one of structured, confident success. We are running live at 127.0.0.1:5000. Felix Louie Sojan and Adithya Jobies welcome the judges' questions and would love to walk you through a live demonstration.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097280"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698480" cy="3108960"/>
          </a:xfrm>
          <a:prstGeom prst="rect">
            <a:avLst/>
          </a:prstGeom>
          <a:noFill/>
        </p:spPr>
        <p:txBody>
          <a:bodyPr wrap="square">
            <a:spAutoFit/>
          </a:bodyPr>
          <a:lstStyle/>
          <a:p>
            <a:pPr>
              <a:spcAft>
                <a:spcPts val="1000"/>
              </a:spcAft>
              <a:defRPr sz="1100" b="1">
                <a:solidFill>
                  <a:srgbClr val="1D4ED8"/>
                </a:solidFill>
              </a:defRPr>
            </a:pPr>
            <a:r>
              <a:t>APJ ABDUL KALAM TECHNOLOGICAL UNIVERSITY • B.TECH 2024 SCHEME (NEP 2020)</a:t>
            </a:r>
          </a:p>
          <a:p>
            <a:pPr>
              <a:spcAft>
                <a:spcPts val="800"/>
              </a:spcAft>
              <a:defRPr sz="4600" b="1">
                <a:solidFill>
                  <a:srgbClr val="0F172A"/>
                </a:solidFill>
              </a:defRPr>
            </a:pPr>
            <a:r>
              <a:t>KTU Nexus</a:t>
            </a:r>
          </a:p>
          <a:p>
            <a:pPr>
              <a:spcAft>
                <a:spcPts val="1400"/>
              </a:spcAft>
              <a:defRPr sz="1800" b="1">
                <a:solidFill>
                  <a:srgbClr val="1D4ED8"/>
                </a:solidFill>
              </a:defRPr>
            </a:pPr>
            <a:r>
              <a:t>The Unified Academic Intelligence Suite &amp; Exam Co-Pilot for Engineering Students</a:t>
            </a:r>
          </a:p>
          <a:p>
            <a:pPr>
              <a:defRPr sz="1300">
                <a:solidFill>
                  <a:srgbClr val="64748B"/>
                </a:solidFill>
              </a:defRPr>
            </a:pPr>
            <a:r>
              <a:t>Complete 5-Branch S1–S8 Syllabi • CIE &amp; Supply Predictor • 120 Activity Points 3-Group Compliance Auditor • Interactive Simulation Labs</a:t>
            </a:r>
          </a:p>
        </p:txBody>
      </p:sp>
      <p:sp>
        <p:nvSpPr>
          <p:cNvPr id="5" name="Rounded Rectangle 4"/>
          <p:cNvSpPr/>
          <p:nvPr/>
        </p:nvSpPr>
        <p:spPr>
          <a:xfrm>
            <a:off x="731520" y="466344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800600"/>
            <a:ext cx="10332720" cy="1188720"/>
          </a:xfrm>
          <a:prstGeom prst="rect">
            <a:avLst/>
          </a:prstGeom>
          <a:noFill/>
        </p:spPr>
        <p:txBody>
          <a:bodyPr wrap="square">
            <a:spAutoFit/>
          </a:bodyPr>
          <a:lstStyle/>
          <a:p>
            <a:pPr>
              <a:spcAft>
                <a:spcPts val="800"/>
              </a:spcAft>
              <a:defRPr sz="1500" b="1">
                <a:solidFill>
                  <a:srgbClr val="1D4ED8"/>
                </a:solidFill>
                <a:latin typeface="Calibri"/>
              </a:defRPr>
            </a:pPr>
            <a:r>
              <a:t>[PRESENTERS]  Presented by: Felix Louie Sojan &amp; Adithya Jobies</a:t>
            </a:r>
          </a:p>
          <a:p>
            <a:pPr>
              <a:spcAft>
                <a:spcPts val="500"/>
              </a:spcAft>
              <a:defRPr sz="1100">
                <a:solidFill>
                  <a:srgbClr val="334155"/>
                </a:solidFill>
                <a:latin typeface="Calibri"/>
              </a:defRPr>
            </a:pPr>
            <a:r>
              <a:t>• Unified Academic Intelligence Platform engineered specifically for KTU Kerala B.Tech Affiliated Colleges</a:t>
            </a:r>
          </a:p>
          <a:p>
            <a:pPr>
              <a:spcAft>
                <a:spcPts val="500"/>
              </a:spcAft>
              <a:defRPr sz="1100">
                <a:solidFill>
                  <a:srgbClr val="334155"/>
                </a:solidFill>
                <a:latin typeface="Calibri"/>
              </a:defRPr>
            </a:pPr>
            <a:r>
              <a:t>• Live Production Platform: http://127.0.0.1:5000 | 87 Comprehensive Courses | 435 Modules | 437 High-Yield PYQs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THE REAL-WORLD CRISIS</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Why B.Tech Engineering Students Face Academic Peril</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Three systemic pain points introduced by the revised KTU 2024 Scheme that cause degrees to be delayed or withheld.</a:t>
            </a:r>
          </a:p>
        </p:txBody>
      </p:sp>
      <p:sp>
        <p:nvSpPr>
          <p:cNvPr id="6" name="Rounded Rectangle 5"/>
          <p:cNvSpPr/>
          <p:nvPr/>
        </p:nvSpPr>
        <p:spPr>
          <a:xfrm>
            <a:off x="7315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2926080" cy="4023360"/>
          </a:xfrm>
          <a:prstGeom prst="rect">
            <a:avLst/>
          </a:prstGeom>
          <a:noFill/>
        </p:spPr>
        <p:txBody>
          <a:bodyPr wrap="square">
            <a:spAutoFit/>
          </a:bodyPr>
          <a:lstStyle/>
          <a:p>
            <a:pPr>
              <a:spcAft>
                <a:spcPts val="800"/>
              </a:spcAft>
              <a:defRPr sz="1500" b="1">
                <a:solidFill>
                  <a:srgbClr val="D97706"/>
                </a:solidFill>
                <a:latin typeface="Calibri"/>
              </a:defRPr>
            </a:pPr>
            <a:r>
              <a:t>[REGULATORY DEFICIT]  The 120-Activity Point Trap</a:t>
            </a:r>
          </a:p>
          <a:p>
            <a:pPr>
              <a:spcAft>
                <a:spcPts val="500"/>
              </a:spcAft>
              <a:defRPr sz="1100">
                <a:solidFill>
                  <a:srgbClr val="334155"/>
                </a:solidFill>
                <a:latin typeface="Calibri"/>
              </a:defRPr>
            </a:pPr>
            <a:r>
              <a:t>• Revision: Requirement increased from 100 to 120 points (awarding 3 academic credits).</a:t>
            </a:r>
          </a:p>
          <a:p>
            <a:pPr>
              <a:spcAft>
                <a:spcPts val="500"/>
              </a:spcAft>
              <a:defRPr sz="1100">
                <a:solidFill>
                  <a:srgbClr val="334155"/>
                </a:solidFill>
                <a:latin typeface="Calibri"/>
              </a:defRPr>
            </a:pPr>
            <a:r>
              <a:t>• The Three-Group Rule: Must earn minimum 40 points in EACH of the 3 groups (Social, Cultural, Professional).</a:t>
            </a:r>
          </a:p>
          <a:p>
            <a:pPr>
              <a:spcAft>
                <a:spcPts val="500"/>
              </a:spcAft>
              <a:defRPr sz="1100">
                <a:solidFill>
                  <a:srgbClr val="334155"/>
                </a:solidFill>
                <a:latin typeface="Calibri"/>
              </a:defRPr>
            </a:pPr>
            <a:r>
              <a:t>• The Catch: Students with 120+ total points still have their DEGREE WITHHELD if even one group has &lt;40 points.</a:t>
            </a:r>
          </a:p>
          <a:p>
            <a:pPr>
              <a:spcAft>
                <a:spcPts val="500"/>
              </a:spcAft>
              <a:defRPr sz="1100">
                <a:solidFill>
                  <a:srgbClr val="334155"/>
                </a:solidFill>
                <a:latin typeface="Calibri"/>
              </a:defRPr>
            </a:pPr>
            <a:r>
              <a:t>• Zero visibility into category caps and approved document criteria.</a:t>
            </a:r>
          </a:p>
        </p:txBody>
      </p:sp>
      <p:sp>
        <p:nvSpPr>
          <p:cNvPr id="8" name="Rounded Rectangle 7"/>
          <p:cNvSpPr/>
          <p:nvPr/>
        </p:nvSpPr>
        <p:spPr>
          <a:xfrm>
            <a:off x="43891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2926080" cy="4023360"/>
          </a:xfrm>
          <a:prstGeom prst="rect">
            <a:avLst/>
          </a:prstGeom>
          <a:noFill/>
        </p:spPr>
        <p:txBody>
          <a:bodyPr wrap="square">
            <a:spAutoFit/>
          </a:bodyPr>
          <a:lstStyle/>
          <a:p>
            <a:pPr>
              <a:spcAft>
                <a:spcPts val="800"/>
              </a:spcAft>
              <a:defRPr sz="1500" b="1">
                <a:solidFill>
                  <a:srgbClr val="E11D48"/>
                </a:solidFill>
                <a:latin typeface="Calibri"/>
              </a:defRPr>
            </a:pPr>
            <a:r>
              <a:t>[EXAM FAILURE RISK]  The CIE &amp; Supply Trap</a:t>
            </a:r>
          </a:p>
          <a:p>
            <a:pPr>
              <a:spcAft>
                <a:spcPts val="500"/>
              </a:spcAft>
              <a:defRPr sz="1100">
                <a:solidFill>
                  <a:srgbClr val="334155"/>
                </a:solidFill>
                <a:latin typeface="Calibri"/>
              </a:defRPr>
            </a:pPr>
            <a:r>
              <a:t>• Continuous Internal Evaluation (50 marks) is scaled from Series Exams (25), Assignments (15), and Attendance (10).</a:t>
            </a:r>
          </a:p>
          <a:p>
            <a:pPr>
              <a:spcAft>
                <a:spcPts val="500"/>
              </a:spcAft>
              <a:defRPr sz="1100">
                <a:solidFill>
                  <a:srgbClr val="334155"/>
                </a:solidFill>
                <a:latin typeface="Calibri"/>
              </a:defRPr>
            </a:pPr>
            <a:r>
              <a:t>• Mandatory 40% University Exam (ESA) threshold: Scoring less than 40/100 triggers an instant supplementary exam ('Supply').</a:t>
            </a:r>
          </a:p>
          <a:p>
            <a:pPr>
              <a:spcAft>
                <a:spcPts val="500"/>
              </a:spcAft>
              <a:defRPr sz="1100">
                <a:solidFill>
                  <a:srgbClr val="334155"/>
                </a:solidFill>
                <a:latin typeface="Calibri"/>
              </a:defRPr>
            </a:pPr>
            <a:r>
              <a:t>• Students study blindly without knowing the exact minimum marks required in ESA to secure their target grade or avoid failing.</a:t>
            </a:r>
          </a:p>
        </p:txBody>
      </p:sp>
      <p:sp>
        <p:nvSpPr>
          <p:cNvPr id="10" name="Rounded Rectangle 9"/>
          <p:cNvSpPr/>
          <p:nvPr/>
        </p:nvSpPr>
        <p:spPr>
          <a:xfrm>
            <a:off x="80467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57400"/>
            <a:ext cx="2926080" cy="4023360"/>
          </a:xfrm>
          <a:prstGeom prst="rect">
            <a:avLst/>
          </a:prstGeom>
          <a:noFill/>
        </p:spPr>
        <p:txBody>
          <a:bodyPr wrap="square">
            <a:spAutoFit/>
          </a:bodyPr>
          <a:lstStyle/>
          <a:p>
            <a:pPr>
              <a:spcAft>
                <a:spcPts val="800"/>
              </a:spcAft>
              <a:defRPr sz="1500" b="1">
                <a:solidFill>
                  <a:srgbClr val="1D4ED8"/>
                </a:solidFill>
                <a:latin typeface="Calibri"/>
              </a:defRPr>
            </a:pPr>
            <a:r>
              <a:t>[CURRICULUM GAP]  Fragmented Curriculum Data</a:t>
            </a:r>
          </a:p>
          <a:p>
            <a:pPr>
              <a:spcAft>
                <a:spcPts val="500"/>
              </a:spcAft>
              <a:defRPr sz="1100">
                <a:solidFill>
                  <a:srgbClr val="334155"/>
                </a:solidFill>
                <a:latin typeface="Calibri"/>
              </a:defRPr>
            </a:pPr>
            <a:r>
              <a:t>• 5 major engineering branches (CSE, ECE, EEE, MECH, CE/CN) lack centralized topic syllabi.</a:t>
            </a:r>
          </a:p>
          <a:p>
            <a:pPr>
              <a:spcAft>
                <a:spcPts val="500"/>
              </a:spcAft>
              <a:defRPr sz="1100">
                <a:solidFill>
                  <a:srgbClr val="334155"/>
                </a:solidFill>
                <a:latin typeface="Calibri"/>
              </a:defRPr>
            </a:pPr>
            <a:r>
              <a:t>• KTU's 15-mark per module question paper distribution requires laser-focused preparation.</a:t>
            </a:r>
          </a:p>
          <a:p>
            <a:pPr>
              <a:spcAft>
                <a:spcPts val="500"/>
              </a:spcAft>
              <a:defRPr sz="1100">
                <a:solidFill>
                  <a:srgbClr val="334155"/>
                </a:solidFill>
                <a:latin typeface="Calibri"/>
              </a:defRPr>
            </a:pPr>
            <a:r>
              <a:t>• Students waste hundreds of hours hunting scattered Telegram groups and informal notes for repeated university PYQs.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THE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KTU Nexus: A Complete Academic Ecosystem</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Five integrated software subsystems engineered to empower students from Semester 1 to Semester 8.</a:t>
            </a:r>
          </a:p>
        </p:txBody>
      </p:sp>
      <p:sp>
        <p:nvSpPr>
          <p:cNvPr id="6" name="Rounded Rectangle 5"/>
          <p:cNvSpPr/>
          <p:nvPr/>
        </p:nvSpPr>
        <p:spPr>
          <a:xfrm>
            <a:off x="731520" y="1920240"/>
            <a:ext cx="24688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1D4ED8"/>
                </a:solidFill>
              </a:defRPr>
            </a:pPr>
            <a:r>
              <a:t>87 Courses</a:t>
            </a:r>
          </a:p>
          <a:p>
            <a:pPr>
              <a:defRPr sz="1000">
                <a:solidFill>
                  <a:srgbClr val="64748B"/>
                </a:solidFill>
              </a:defRPr>
            </a:pPr>
            <a:r>
              <a:t>Full S1-S8 Coverage across 5 Branches</a:t>
            </a:r>
          </a:p>
        </p:txBody>
      </p:sp>
      <p:sp>
        <p:nvSpPr>
          <p:cNvPr id="7" name="Rounded Rectangle 6"/>
          <p:cNvSpPr/>
          <p:nvPr/>
        </p:nvSpPr>
        <p:spPr>
          <a:xfrm>
            <a:off x="3429000" y="1920240"/>
            <a:ext cx="24688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059669"/>
                </a:solidFill>
              </a:defRPr>
            </a:pPr>
            <a:r>
              <a:t>435 Modules</a:t>
            </a:r>
          </a:p>
          <a:p>
            <a:pPr>
              <a:defRPr sz="1000">
                <a:solidFill>
                  <a:srgbClr val="64748B"/>
                </a:solidFill>
              </a:defRPr>
            </a:pPr>
            <a:r>
              <a:t>15-Mark Syllabus Mapping per Module</a:t>
            </a:r>
          </a:p>
        </p:txBody>
      </p:sp>
      <p:sp>
        <p:nvSpPr>
          <p:cNvPr id="8" name="Rounded Rectangle 7"/>
          <p:cNvSpPr/>
          <p:nvPr/>
        </p:nvSpPr>
        <p:spPr>
          <a:xfrm>
            <a:off x="6126480" y="1920240"/>
            <a:ext cx="24688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D97706"/>
                </a:solidFill>
              </a:defRPr>
            </a:pPr>
            <a:r>
              <a:t>437 PYQs</a:t>
            </a:r>
          </a:p>
          <a:p>
            <a:pPr>
              <a:defRPr sz="1000">
                <a:solidFill>
                  <a:srgbClr val="64748B"/>
                </a:solidFill>
              </a:defRPr>
            </a:pPr>
            <a:r>
              <a:t>Repeated KTU Exam Questions with Marks</a:t>
            </a:r>
          </a:p>
        </p:txBody>
      </p:sp>
      <p:sp>
        <p:nvSpPr>
          <p:cNvPr id="9" name="Rounded Rectangle 8"/>
          <p:cNvSpPr/>
          <p:nvPr/>
        </p:nvSpPr>
        <p:spPr>
          <a:xfrm>
            <a:off x="8823960" y="1920240"/>
            <a:ext cx="246888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0F172A"/>
                </a:solidFill>
              </a:defRPr>
            </a:pPr>
            <a:r>
              <a:t>120 Points</a:t>
            </a:r>
          </a:p>
          <a:p>
            <a:pPr>
              <a:defRPr sz="1000">
                <a:solidFill>
                  <a:srgbClr val="64748B"/>
                </a:solidFill>
              </a:defRPr>
            </a:pPr>
            <a:r>
              <a:t>3-Group Auditor (Min 40 pts/Group)</a:t>
            </a:r>
          </a:p>
        </p:txBody>
      </p:sp>
      <p:sp>
        <p:nvSpPr>
          <p:cNvPr id="10" name="Rounded Rectangle 9"/>
          <p:cNvSpPr/>
          <p:nvPr/>
        </p:nvSpPr>
        <p:spPr>
          <a:xfrm>
            <a:off x="731520" y="3383280"/>
            <a:ext cx="329184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20440"/>
            <a:ext cx="2926080" cy="2560320"/>
          </a:xfrm>
          <a:prstGeom prst="rect">
            <a:avLst/>
          </a:prstGeom>
          <a:noFill/>
        </p:spPr>
        <p:txBody>
          <a:bodyPr wrap="square">
            <a:spAutoFit/>
          </a:bodyPr>
          <a:lstStyle/>
          <a:p>
            <a:pPr>
              <a:spcAft>
                <a:spcPts val="800"/>
              </a:spcAft>
              <a:defRPr sz="1500" b="1">
                <a:solidFill>
                  <a:srgbClr val="1D4ED8"/>
                </a:solidFill>
                <a:latin typeface="Calibri"/>
              </a:defRPr>
            </a:pPr>
            <a:r>
              <a:t>[CORE ENGINE]  Syllabus &amp; PYQ Master</a:t>
            </a:r>
          </a:p>
          <a:p>
            <a:pPr>
              <a:spcAft>
                <a:spcPts val="500"/>
              </a:spcAft>
              <a:defRPr sz="1100">
                <a:solidFill>
                  <a:srgbClr val="334155"/>
                </a:solidFill>
                <a:latin typeface="Calibri"/>
              </a:defRPr>
            </a:pPr>
            <a:r>
              <a:t>• S1-S8 for CSE, ECE, EEE, MECH, CE/CN.</a:t>
            </a:r>
          </a:p>
          <a:p>
            <a:pPr>
              <a:spcAft>
                <a:spcPts val="500"/>
              </a:spcAft>
              <a:defRPr sz="1100">
                <a:solidFill>
                  <a:srgbClr val="334155"/>
                </a:solidFill>
                <a:latin typeface="Calibri"/>
              </a:defRPr>
            </a:pPr>
            <a:r>
              <a:t>• Exact 15-mark module weightages.</a:t>
            </a:r>
          </a:p>
          <a:p>
            <a:pPr>
              <a:spcAft>
                <a:spcPts val="500"/>
              </a:spcAft>
              <a:defRPr sz="1100">
                <a:solidFill>
                  <a:srgbClr val="334155"/>
                </a:solidFill>
                <a:latin typeface="Calibri"/>
              </a:defRPr>
            </a:pPr>
            <a:r>
              <a:t>• High-yield repeated exam questions.</a:t>
            </a:r>
          </a:p>
          <a:p>
            <a:pPr>
              <a:spcAft>
                <a:spcPts val="500"/>
              </a:spcAft>
              <a:defRPr sz="1100">
                <a:solidFill>
                  <a:srgbClr val="334155"/>
                </a:solidFill>
                <a:latin typeface="Calibri"/>
              </a:defRPr>
            </a:pPr>
            <a:r>
              <a:t>• Instant keyword search across all courses.</a:t>
            </a:r>
          </a:p>
        </p:txBody>
      </p:sp>
      <p:sp>
        <p:nvSpPr>
          <p:cNvPr id="12" name="Rounded Rectangle 11"/>
          <p:cNvSpPr/>
          <p:nvPr/>
        </p:nvSpPr>
        <p:spPr>
          <a:xfrm>
            <a:off x="4389120" y="3383280"/>
            <a:ext cx="329184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520440"/>
            <a:ext cx="2926080" cy="2560320"/>
          </a:xfrm>
          <a:prstGeom prst="rect">
            <a:avLst/>
          </a:prstGeom>
          <a:noFill/>
        </p:spPr>
        <p:txBody>
          <a:bodyPr wrap="square">
            <a:spAutoFit/>
          </a:bodyPr>
          <a:lstStyle/>
          <a:p>
            <a:pPr>
              <a:spcAft>
                <a:spcPts val="800"/>
              </a:spcAft>
              <a:defRPr sz="1500" b="1">
                <a:solidFill>
                  <a:srgbClr val="059669"/>
                </a:solidFill>
                <a:latin typeface="Calibri"/>
              </a:defRPr>
            </a:pPr>
            <a:r>
              <a:t>[ANALYTICS]  CIE &amp; Supply Predictor</a:t>
            </a:r>
          </a:p>
          <a:p>
            <a:pPr>
              <a:spcAft>
                <a:spcPts val="500"/>
              </a:spcAft>
              <a:defRPr sz="1100">
                <a:solidFill>
                  <a:srgbClr val="334155"/>
                </a:solidFill>
                <a:latin typeface="Calibri"/>
              </a:defRPr>
            </a:pPr>
            <a:r>
              <a:t>• Automated internal mark scaling (out of 50).</a:t>
            </a:r>
          </a:p>
          <a:p>
            <a:pPr>
              <a:spcAft>
                <a:spcPts val="500"/>
              </a:spcAft>
              <a:defRPr sz="1100">
                <a:solidFill>
                  <a:srgbClr val="334155"/>
                </a:solidFill>
                <a:latin typeface="Calibri"/>
              </a:defRPr>
            </a:pPr>
            <a:r>
              <a:t>• Calculates minimum ESA exam marks needed.</a:t>
            </a:r>
          </a:p>
          <a:p>
            <a:pPr>
              <a:spcAft>
                <a:spcPts val="500"/>
              </a:spcAft>
              <a:defRPr sz="1100">
                <a:solidFill>
                  <a:srgbClr val="334155"/>
                </a:solidFill>
                <a:latin typeface="Calibri"/>
              </a:defRPr>
            </a:pPr>
            <a:r>
              <a:t>• Dynamic supply risk categorization.</a:t>
            </a:r>
          </a:p>
          <a:p>
            <a:pPr>
              <a:spcAft>
                <a:spcPts val="500"/>
              </a:spcAft>
              <a:defRPr sz="1100">
                <a:solidFill>
                  <a:srgbClr val="334155"/>
                </a:solidFill>
                <a:latin typeface="Calibri"/>
              </a:defRPr>
            </a:pPr>
            <a:r>
              <a:t>• Grade target thresholds for O, A+, A, B+, B, C.</a:t>
            </a:r>
          </a:p>
        </p:txBody>
      </p:sp>
      <p:sp>
        <p:nvSpPr>
          <p:cNvPr id="14" name="Rounded Rectangle 13"/>
          <p:cNvSpPr/>
          <p:nvPr/>
        </p:nvSpPr>
        <p:spPr>
          <a:xfrm>
            <a:off x="8046720" y="3383280"/>
            <a:ext cx="329184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3520440"/>
            <a:ext cx="2926080" cy="2560320"/>
          </a:xfrm>
          <a:prstGeom prst="rect">
            <a:avLst/>
          </a:prstGeom>
          <a:noFill/>
        </p:spPr>
        <p:txBody>
          <a:bodyPr wrap="square">
            <a:spAutoFit/>
          </a:bodyPr>
          <a:lstStyle/>
          <a:p>
            <a:pPr>
              <a:spcAft>
                <a:spcPts val="800"/>
              </a:spcAft>
              <a:defRPr sz="1500" b="1">
                <a:solidFill>
                  <a:srgbClr val="D97706"/>
                </a:solidFill>
                <a:latin typeface="Calibri"/>
              </a:defRPr>
            </a:pPr>
            <a:r>
              <a:t>[REGULATION]  120-Point Activity Auditor</a:t>
            </a:r>
          </a:p>
          <a:p>
            <a:pPr>
              <a:spcAft>
                <a:spcPts val="500"/>
              </a:spcAft>
              <a:defRPr sz="1100">
                <a:solidFill>
                  <a:srgbClr val="334155"/>
                </a:solidFill>
                <a:latin typeface="Calibri"/>
              </a:defRPr>
            </a:pPr>
            <a:r>
              <a:t>• Full Three-Group compliance engine.</a:t>
            </a:r>
          </a:p>
          <a:p>
            <a:pPr>
              <a:spcAft>
                <a:spcPts val="500"/>
              </a:spcAft>
              <a:defRPr sz="1100">
                <a:solidFill>
                  <a:srgbClr val="334155"/>
                </a:solidFill>
                <a:latin typeface="Calibri"/>
              </a:defRPr>
            </a:pPr>
            <a:r>
              <a:t>• Calculates Group 1, 2, and 3 capped points.</a:t>
            </a:r>
          </a:p>
          <a:p>
            <a:pPr>
              <a:spcAft>
                <a:spcPts val="500"/>
              </a:spcAft>
              <a:defRPr sz="1100">
                <a:solidFill>
                  <a:srgbClr val="334155"/>
                </a:solidFill>
                <a:latin typeface="Calibri"/>
              </a:defRPr>
            </a:pPr>
            <a:r>
              <a:t>• Flags pending deficits immediately.</a:t>
            </a:r>
          </a:p>
          <a:p>
            <a:pPr>
              <a:spcAft>
                <a:spcPts val="500"/>
              </a:spcAft>
              <a:defRPr sz="1100">
                <a:solidFill>
                  <a:srgbClr val="334155"/>
                </a:solidFill>
                <a:latin typeface="Calibri"/>
              </a:defRPr>
            </a:pPr>
            <a:r>
              <a:t>• Offers targeted activity recommendations.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BRANCH CURRICULUM MATRIX</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Comprehensive S1 to S8 Academic Repository</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Full academic scope across all 5 major engineering branches plus common first year foundation.</a:t>
            </a:r>
          </a:p>
        </p:txBody>
      </p:sp>
      <p:sp>
        <p:nvSpPr>
          <p:cNvPr id="6" name="Rounded Rectangle 5"/>
          <p:cNvSpPr/>
          <p:nvPr/>
        </p:nvSpPr>
        <p:spPr>
          <a:xfrm>
            <a:off x="731520" y="1920240"/>
            <a:ext cx="33832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3017520" cy="1783080"/>
          </a:xfrm>
          <a:prstGeom prst="rect">
            <a:avLst/>
          </a:prstGeom>
          <a:noFill/>
        </p:spPr>
        <p:txBody>
          <a:bodyPr wrap="square">
            <a:spAutoFit/>
          </a:bodyPr>
          <a:lstStyle/>
          <a:p>
            <a:pPr>
              <a:spcAft>
                <a:spcPts val="800"/>
              </a:spcAft>
              <a:defRPr sz="1500" b="1">
                <a:solidFill>
                  <a:srgbClr val="0F172A"/>
                </a:solidFill>
                <a:latin typeface="Calibri"/>
              </a:defRPr>
            </a:pPr>
            <a:r>
              <a:t>[10 Courses • 50 Modules]  Common First Year (S1 &amp; S2)</a:t>
            </a:r>
          </a:p>
          <a:p>
            <a:pPr>
              <a:spcAft>
                <a:spcPts val="500"/>
              </a:spcAft>
              <a:defRPr sz="1100">
                <a:solidFill>
                  <a:srgbClr val="334155"/>
                </a:solidFill>
                <a:latin typeface="Calibri"/>
              </a:defRPr>
            </a:pPr>
            <a:r>
              <a:t>• MAT 101/102 Calculus &amp; Diff Eq</a:t>
            </a:r>
          </a:p>
          <a:p>
            <a:pPr>
              <a:spcAft>
                <a:spcPts val="500"/>
              </a:spcAft>
              <a:defRPr sz="1100">
                <a:solidFill>
                  <a:srgbClr val="334155"/>
                </a:solidFill>
                <a:latin typeface="Calibri"/>
              </a:defRPr>
            </a:pPr>
            <a:r>
              <a:t>• PHT 100 Physics &amp; CYT 100 Chemistry</a:t>
            </a:r>
          </a:p>
          <a:p>
            <a:pPr>
              <a:spcAft>
                <a:spcPts val="500"/>
              </a:spcAft>
              <a:defRPr sz="1100">
                <a:solidFill>
                  <a:srgbClr val="334155"/>
                </a:solidFill>
                <a:latin typeface="Calibri"/>
              </a:defRPr>
            </a:pPr>
            <a:r>
              <a:t>• EST 100 Mechanics &amp; EST 130 Graphics</a:t>
            </a:r>
          </a:p>
          <a:p>
            <a:pPr>
              <a:spcAft>
                <a:spcPts val="500"/>
              </a:spcAft>
              <a:defRPr sz="1100">
                <a:solidFill>
                  <a:srgbClr val="334155"/>
                </a:solidFill>
                <a:latin typeface="Calibri"/>
              </a:defRPr>
            </a:pPr>
            <a:r>
              <a:t>• EST 102 Programming in C &amp; EST 110/120</a:t>
            </a:r>
          </a:p>
        </p:txBody>
      </p:sp>
      <p:sp>
        <p:nvSpPr>
          <p:cNvPr id="8" name="Rounded Rectangle 7"/>
          <p:cNvSpPr/>
          <p:nvPr/>
        </p:nvSpPr>
        <p:spPr>
          <a:xfrm>
            <a:off x="4343400" y="1920240"/>
            <a:ext cx="33832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057400"/>
            <a:ext cx="3017520" cy="1783080"/>
          </a:xfrm>
          <a:prstGeom prst="rect">
            <a:avLst/>
          </a:prstGeom>
          <a:noFill/>
        </p:spPr>
        <p:txBody>
          <a:bodyPr wrap="square">
            <a:spAutoFit/>
          </a:bodyPr>
          <a:lstStyle/>
          <a:p>
            <a:pPr>
              <a:spcAft>
                <a:spcPts val="800"/>
              </a:spcAft>
              <a:defRPr sz="1500" b="1">
                <a:solidFill>
                  <a:srgbClr val="1D4ED8"/>
                </a:solidFill>
                <a:latin typeface="Calibri"/>
              </a:defRPr>
            </a:pPr>
            <a:r>
              <a:t>[28 Courses • 140 Modules]  Computer Science (CSE)</a:t>
            </a:r>
          </a:p>
          <a:p>
            <a:pPr>
              <a:spcAft>
                <a:spcPts val="500"/>
              </a:spcAft>
              <a:defRPr sz="1100">
                <a:solidFill>
                  <a:srgbClr val="334155"/>
                </a:solidFill>
                <a:latin typeface="Calibri"/>
              </a:defRPr>
            </a:pPr>
            <a:r>
              <a:t>• S3-S4: Data Structures, LSD, COA, DBMS, OS</a:t>
            </a:r>
          </a:p>
          <a:p>
            <a:pPr>
              <a:spcAft>
                <a:spcPts val="500"/>
              </a:spcAft>
              <a:defRPr sz="1100">
                <a:solidFill>
                  <a:srgbClr val="334155"/>
                </a:solidFill>
                <a:latin typeface="Calibri"/>
              </a:defRPr>
            </a:pPr>
            <a:r>
              <a:t>• S5-S6: Automata (FLAT), Networks, Compiler, DAA</a:t>
            </a:r>
          </a:p>
          <a:p>
            <a:pPr>
              <a:spcAft>
                <a:spcPts val="500"/>
              </a:spcAft>
              <a:defRPr sz="1100">
                <a:solidFill>
                  <a:srgbClr val="334155"/>
                </a:solidFill>
                <a:latin typeface="Calibri"/>
              </a:defRPr>
            </a:pPr>
            <a:r>
              <a:t>• S7-S8: AI, Network Security, Cloud Computing</a:t>
            </a:r>
          </a:p>
          <a:p>
            <a:pPr>
              <a:spcAft>
                <a:spcPts val="500"/>
              </a:spcAft>
              <a:defRPr sz="1100">
                <a:solidFill>
                  <a:srgbClr val="334155"/>
                </a:solidFill>
                <a:latin typeface="Calibri"/>
              </a:defRPr>
            </a:pPr>
            <a:r>
              <a:t>• Includes Java OOP, System Software, Microprocessors</a:t>
            </a:r>
          </a:p>
        </p:txBody>
      </p:sp>
      <p:sp>
        <p:nvSpPr>
          <p:cNvPr id="10" name="Rounded Rectangle 9"/>
          <p:cNvSpPr/>
          <p:nvPr/>
        </p:nvSpPr>
        <p:spPr>
          <a:xfrm>
            <a:off x="7955280" y="1920240"/>
            <a:ext cx="33832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2057400"/>
            <a:ext cx="3017520" cy="1783080"/>
          </a:xfrm>
          <a:prstGeom prst="rect">
            <a:avLst/>
          </a:prstGeom>
          <a:noFill/>
        </p:spPr>
        <p:txBody>
          <a:bodyPr wrap="square">
            <a:spAutoFit/>
          </a:bodyPr>
          <a:lstStyle/>
          <a:p>
            <a:pPr>
              <a:spcAft>
                <a:spcPts val="800"/>
              </a:spcAft>
              <a:defRPr sz="1500" b="1">
                <a:solidFill>
                  <a:srgbClr val="059669"/>
                </a:solidFill>
                <a:latin typeface="Calibri"/>
              </a:defRPr>
            </a:pPr>
            <a:r>
              <a:t>[25 Courses • 125 Modules]  Electronics &amp; Comm (ECE)</a:t>
            </a:r>
          </a:p>
          <a:p>
            <a:pPr>
              <a:spcAft>
                <a:spcPts val="500"/>
              </a:spcAft>
              <a:defRPr sz="1100">
                <a:solidFill>
                  <a:srgbClr val="334155"/>
                </a:solidFill>
                <a:latin typeface="Calibri"/>
              </a:defRPr>
            </a:pPr>
            <a:r>
              <a:t>• S3-S4: Solid State Devices, Logic Design, Signals</a:t>
            </a:r>
          </a:p>
          <a:p>
            <a:pPr>
              <a:spcAft>
                <a:spcPts val="500"/>
              </a:spcAft>
              <a:defRPr sz="1100">
                <a:solidFill>
                  <a:srgbClr val="334155"/>
                </a:solidFill>
                <a:latin typeface="Calibri"/>
              </a:defRPr>
            </a:pPr>
            <a:r>
              <a:t>• S5-S6: LIC Op-Amps, DSP, Analog/Digital Comms, VLSI</a:t>
            </a:r>
          </a:p>
          <a:p>
            <a:pPr>
              <a:spcAft>
                <a:spcPts val="500"/>
              </a:spcAft>
              <a:defRPr sz="1100">
                <a:solidFill>
                  <a:srgbClr val="334155"/>
                </a:solidFill>
                <a:latin typeface="Calibri"/>
              </a:defRPr>
            </a:pPr>
            <a:r>
              <a:t>• S7-S8: Microwave &amp; Antenna, Wireless, Satellite</a:t>
            </a:r>
          </a:p>
          <a:p>
            <a:pPr>
              <a:spcAft>
                <a:spcPts val="500"/>
              </a:spcAft>
              <a:defRPr sz="1100">
                <a:solidFill>
                  <a:srgbClr val="334155"/>
                </a:solidFill>
                <a:latin typeface="Calibri"/>
              </a:defRPr>
            </a:pPr>
            <a:r>
              <a:t>• Includes Network Theory, Computer Architecture</a:t>
            </a:r>
          </a:p>
        </p:txBody>
      </p:sp>
      <p:sp>
        <p:nvSpPr>
          <p:cNvPr id="12" name="Rounded Rectangle 11"/>
          <p:cNvSpPr/>
          <p:nvPr/>
        </p:nvSpPr>
        <p:spPr>
          <a:xfrm>
            <a:off x="731520" y="4206240"/>
            <a:ext cx="33832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43400"/>
            <a:ext cx="3017520" cy="1783080"/>
          </a:xfrm>
          <a:prstGeom prst="rect">
            <a:avLst/>
          </a:prstGeom>
          <a:noFill/>
        </p:spPr>
        <p:txBody>
          <a:bodyPr wrap="square">
            <a:spAutoFit/>
          </a:bodyPr>
          <a:lstStyle/>
          <a:p>
            <a:pPr>
              <a:spcAft>
                <a:spcPts val="800"/>
              </a:spcAft>
              <a:defRPr sz="1500" b="1">
                <a:solidFill>
                  <a:srgbClr val="D97706"/>
                </a:solidFill>
                <a:latin typeface="Calibri"/>
              </a:defRPr>
            </a:pPr>
            <a:r>
              <a:t>[23 Courses • 115 Modules]  Electrical &amp; Electronics (EEE)</a:t>
            </a:r>
          </a:p>
          <a:p>
            <a:pPr>
              <a:spcAft>
                <a:spcPts val="500"/>
              </a:spcAft>
              <a:defRPr sz="1100">
                <a:solidFill>
                  <a:srgbClr val="334155"/>
                </a:solidFill>
                <a:latin typeface="Calibri"/>
              </a:defRPr>
            </a:pPr>
            <a:r>
              <a:t>• S3-S4: Circuits &amp; Networks, DC Machines, EMFT</a:t>
            </a:r>
          </a:p>
          <a:p>
            <a:pPr>
              <a:spcAft>
                <a:spcPts val="500"/>
              </a:spcAft>
              <a:defRPr sz="1100">
                <a:solidFill>
                  <a:srgbClr val="334155"/>
                </a:solidFill>
                <a:latin typeface="Calibri"/>
              </a:defRPr>
            </a:pPr>
            <a:r>
              <a:t>• S5-S6: Power Systems I &amp; II, AC Machines, Drives</a:t>
            </a:r>
          </a:p>
          <a:p>
            <a:pPr>
              <a:spcAft>
                <a:spcPts val="500"/>
              </a:spcAft>
              <a:defRPr sz="1100">
                <a:solidFill>
                  <a:srgbClr val="334155"/>
                </a:solidFill>
                <a:latin typeface="Calibri"/>
              </a:defRPr>
            </a:pPr>
            <a:r>
              <a:t>• S7-S8: Advanced Control Systems, EV &amp; Smart Grid</a:t>
            </a:r>
          </a:p>
          <a:p>
            <a:pPr>
              <a:spcAft>
                <a:spcPts val="500"/>
              </a:spcAft>
              <a:defRPr sz="1100">
                <a:solidFill>
                  <a:srgbClr val="334155"/>
                </a:solidFill>
                <a:latin typeface="Calibri"/>
              </a:defRPr>
            </a:pPr>
            <a:r>
              <a:t>• Includes Linear Control Systems, Instrumentation</a:t>
            </a:r>
          </a:p>
        </p:txBody>
      </p:sp>
      <p:sp>
        <p:nvSpPr>
          <p:cNvPr id="14" name="Rounded Rectangle 13"/>
          <p:cNvSpPr/>
          <p:nvPr/>
        </p:nvSpPr>
        <p:spPr>
          <a:xfrm>
            <a:off x="4343400" y="4206240"/>
            <a:ext cx="33832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4343400"/>
            <a:ext cx="3017520" cy="1783080"/>
          </a:xfrm>
          <a:prstGeom prst="rect">
            <a:avLst/>
          </a:prstGeom>
          <a:noFill/>
        </p:spPr>
        <p:txBody>
          <a:bodyPr wrap="square">
            <a:spAutoFit/>
          </a:bodyPr>
          <a:lstStyle/>
          <a:p>
            <a:pPr>
              <a:spcAft>
                <a:spcPts val="800"/>
              </a:spcAft>
              <a:defRPr sz="1500" b="1">
                <a:solidFill>
                  <a:srgbClr val="E11D48"/>
                </a:solidFill>
                <a:latin typeface="Calibri"/>
              </a:defRPr>
            </a:pPr>
            <a:r>
              <a:t>[23 Courses • 115 Modules]  Mechanical Engineering (MECH)</a:t>
            </a:r>
          </a:p>
          <a:p>
            <a:pPr>
              <a:spcAft>
                <a:spcPts val="500"/>
              </a:spcAft>
              <a:defRPr sz="1100">
                <a:solidFill>
                  <a:srgbClr val="334155"/>
                </a:solidFill>
                <a:latin typeface="Calibri"/>
              </a:defRPr>
            </a:pPr>
            <a:r>
              <a:t>• S3-S4: Mechanics of Solids, Thermodynamics, Fluid Mech</a:t>
            </a:r>
          </a:p>
          <a:p>
            <a:pPr>
              <a:spcAft>
                <a:spcPts val="500"/>
              </a:spcAft>
              <a:defRPr sz="1100">
                <a:solidFill>
                  <a:srgbClr val="334155"/>
                </a:solidFill>
                <a:latin typeface="Calibri"/>
              </a:defRPr>
            </a:pPr>
            <a:r>
              <a:t>• S5-S6: Mechanics of Machinery, Heat &amp; Mass Transfer</a:t>
            </a:r>
          </a:p>
          <a:p>
            <a:pPr>
              <a:spcAft>
                <a:spcPts val="500"/>
              </a:spcAft>
              <a:defRPr sz="1100">
                <a:solidFill>
                  <a:srgbClr val="334155"/>
                </a:solidFill>
                <a:latin typeface="Calibri"/>
              </a:defRPr>
            </a:pPr>
            <a:r>
              <a:t>• S7-S8: Machine Element Design, Mechatronics, Energy</a:t>
            </a:r>
          </a:p>
          <a:p>
            <a:pPr>
              <a:spcAft>
                <a:spcPts val="500"/>
              </a:spcAft>
              <a:defRPr sz="1100">
                <a:solidFill>
                  <a:srgbClr val="334155"/>
                </a:solidFill>
                <a:latin typeface="Calibri"/>
              </a:defRPr>
            </a:pPr>
            <a:r>
              <a:t>• Includes Manufacturing Processes, Metrology</a:t>
            </a:r>
          </a:p>
        </p:txBody>
      </p:sp>
      <p:sp>
        <p:nvSpPr>
          <p:cNvPr id="16" name="Rounded Rectangle 15"/>
          <p:cNvSpPr/>
          <p:nvPr/>
        </p:nvSpPr>
        <p:spPr>
          <a:xfrm>
            <a:off x="7955280" y="4206240"/>
            <a:ext cx="3383280"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4343400"/>
            <a:ext cx="3017520" cy="1783080"/>
          </a:xfrm>
          <a:prstGeom prst="rect">
            <a:avLst/>
          </a:prstGeom>
          <a:noFill/>
        </p:spPr>
        <p:txBody>
          <a:bodyPr wrap="square">
            <a:spAutoFit/>
          </a:bodyPr>
          <a:lstStyle/>
          <a:p>
            <a:pPr>
              <a:spcAft>
                <a:spcPts val="800"/>
              </a:spcAft>
              <a:defRPr sz="1500" b="1">
                <a:solidFill>
                  <a:srgbClr val="1D4ED8"/>
                </a:solidFill>
                <a:latin typeface="Calibri"/>
              </a:defRPr>
            </a:pPr>
            <a:r>
              <a:t>[28 Courses • 140 Modules]  Civil &amp; Computer Networking (CE/CN)</a:t>
            </a:r>
          </a:p>
          <a:p>
            <a:pPr>
              <a:spcAft>
                <a:spcPts val="500"/>
              </a:spcAft>
              <a:defRPr sz="1100">
                <a:solidFill>
                  <a:srgbClr val="334155"/>
                </a:solidFill>
                <a:latin typeface="Calibri"/>
              </a:defRPr>
            </a:pPr>
            <a:r>
              <a:t>• S3-S4: Structural Analysis I, Fluid Mech, Soil Mech</a:t>
            </a:r>
          </a:p>
          <a:p>
            <a:pPr>
              <a:spcAft>
                <a:spcPts val="500"/>
              </a:spcAft>
              <a:defRPr sz="1100">
                <a:solidFill>
                  <a:srgbClr val="334155"/>
                </a:solidFill>
                <a:latin typeface="Calibri"/>
              </a:defRPr>
            </a:pPr>
            <a:r>
              <a:t>• S5-S6: Design of Concrete (RCC) &amp; Steel Structures</a:t>
            </a:r>
          </a:p>
          <a:p>
            <a:pPr>
              <a:spcAft>
                <a:spcPts val="500"/>
              </a:spcAft>
              <a:defRPr sz="1100">
                <a:solidFill>
                  <a:srgbClr val="334155"/>
                </a:solidFill>
                <a:latin typeface="Calibri"/>
              </a:defRPr>
            </a:pPr>
            <a:r>
              <a:t>• S7-S8: Quantity Surveying, Earthquake Engg, Foundations</a:t>
            </a:r>
          </a:p>
          <a:p>
            <a:pPr>
              <a:spcAft>
                <a:spcPts val="500"/>
              </a:spcAft>
              <a:defRPr sz="1100">
                <a:solidFill>
                  <a:srgbClr val="334155"/>
                </a:solidFill>
                <a:latin typeface="Calibri"/>
              </a:defRPr>
            </a:pPr>
            <a:r>
              <a:t>• Plus Network Security, Wireless Networks, Cyber Forensics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PREDICTIVE ANALYTICS</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Continuous Internal Evaluation &amp; Exam Safety</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Real-time mathematical forecasting to eliminate the panic of university supplementary exams.</a:t>
            </a:r>
          </a:p>
        </p:txBody>
      </p:sp>
      <p:sp>
        <p:nvSpPr>
          <p:cNvPr id="6" name="Rounded Rectangle 5"/>
          <p:cNvSpPr/>
          <p:nvPr/>
        </p:nvSpPr>
        <p:spPr>
          <a:xfrm>
            <a:off x="731520" y="192024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754880" cy="4023360"/>
          </a:xfrm>
          <a:prstGeom prst="rect">
            <a:avLst/>
          </a:prstGeom>
          <a:noFill/>
        </p:spPr>
        <p:txBody>
          <a:bodyPr wrap="square">
            <a:spAutoFit/>
          </a:bodyPr>
          <a:lstStyle/>
          <a:p>
            <a:pPr>
              <a:spcAft>
                <a:spcPts val="800"/>
              </a:spcAft>
              <a:defRPr sz="1500" b="1">
                <a:solidFill>
                  <a:srgbClr val="1D4ED8"/>
                </a:solidFill>
                <a:latin typeface="Calibri"/>
              </a:defRPr>
            </a:pPr>
            <a:r>
              <a:t>[KTU 2024 FORMULA]  Internal Mark Normalization Formula</a:t>
            </a:r>
          </a:p>
          <a:p>
            <a:pPr>
              <a:spcAft>
                <a:spcPts val="500"/>
              </a:spcAft>
              <a:defRPr sz="1100">
                <a:solidFill>
                  <a:srgbClr val="334155"/>
                </a:solidFill>
                <a:latin typeface="Calibri"/>
              </a:defRPr>
            </a:pPr>
            <a:r>
              <a:t>• Series Exam Component (25 Marks): Scaled from the average of Series 1 and Series 2 exams: (Avg / 50) * 25.</a:t>
            </a:r>
          </a:p>
          <a:p>
            <a:pPr>
              <a:spcAft>
                <a:spcPts val="500"/>
              </a:spcAft>
              <a:defRPr sz="1100">
                <a:solidFill>
                  <a:srgbClr val="334155"/>
                </a:solidFill>
                <a:latin typeface="Calibri"/>
              </a:defRPr>
            </a:pPr>
            <a:r>
              <a:t>• Continuous Assessment (15 Marks): Homework, class tests, and design assignments.</a:t>
            </a:r>
          </a:p>
          <a:p>
            <a:pPr>
              <a:spcAft>
                <a:spcPts val="500"/>
              </a:spcAft>
              <a:defRPr sz="1100">
                <a:solidFill>
                  <a:srgbClr val="334155"/>
                </a:solidFill>
                <a:latin typeface="Calibri"/>
              </a:defRPr>
            </a:pPr>
            <a:r>
              <a:t>• Attendance Component (10 Marks): Tiered reward system (&gt;85% = 10m, 80-84% = 8m, 75-79% = 6m).</a:t>
            </a:r>
          </a:p>
          <a:p>
            <a:pPr>
              <a:spcAft>
                <a:spcPts val="500"/>
              </a:spcAft>
              <a:defRPr sz="1100">
                <a:solidFill>
                  <a:srgbClr val="334155"/>
                </a:solidFill>
                <a:latin typeface="Calibri"/>
              </a:defRPr>
            </a:pPr>
            <a:r>
              <a:t>• Total CIE Max: 50 Marks.</a:t>
            </a:r>
          </a:p>
          <a:p>
            <a:pPr>
              <a:spcAft>
                <a:spcPts val="500"/>
              </a:spcAft>
              <a:defRPr sz="1100">
                <a:solidFill>
                  <a:srgbClr val="334155"/>
                </a:solidFill>
                <a:latin typeface="Calibri"/>
              </a:defRPr>
            </a:pPr>
            <a:r>
              <a:t>• University Requirement: Minimum 50% aggregate (CIE + ESA &gt;= 75/150) AND minimum 40% in ESA (&gt;= 40/100) are mandatory.</a:t>
            </a:r>
          </a:p>
        </p:txBody>
      </p:sp>
      <p:sp>
        <p:nvSpPr>
          <p:cNvPr id="8" name="Rounded Rectangle 7"/>
          <p:cNvSpPr/>
          <p:nvPr/>
        </p:nvSpPr>
        <p:spPr>
          <a:xfrm>
            <a:off x="6217920" y="1920240"/>
            <a:ext cx="52120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057400"/>
            <a:ext cx="4846320" cy="4023360"/>
          </a:xfrm>
          <a:prstGeom prst="rect">
            <a:avLst/>
          </a:prstGeom>
          <a:noFill/>
        </p:spPr>
        <p:txBody>
          <a:bodyPr wrap="square">
            <a:spAutoFit/>
          </a:bodyPr>
          <a:lstStyle/>
          <a:p>
            <a:pPr>
              <a:spcAft>
                <a:spcPts val="800"/>
              </a:spcAft>
              <a:defRPr sz="1500" b="1">
                <a:solidFill>
                  <a:srgbClr val="059669"/>
                </a:solidFill>
                <a:latin typeface="Calibri"/>
              </a:defRPr>
            </a:pPr>
            <a:r>
              <a:t>[REAL-TIME FORECAST]  Live Target Grade &amp; Risk Predictor</a:t>
            </a:r>
          </a:p>
          <a:p>
            <a:pPr>
              <a:spcAft>
                <a:spcPts val="500"/>
              </a:spcAft>
              <a:defRPr sz="1100">
                <a:solidFill>
                  <a:srgbClr val="334155"/>
                </a:solidFill>
                <a:latin typeface="Calibri"/>
              </a:defRPr>
            </a:pPr>
            <a:r>
              <a:t>• Input: Student slides Series 1, Series 2, Assignments, and Attendance.</a:t>
            </a:r>
          </a:p>
          <a:p>
            <a:pPr>
              <a:spcAft>
                <a:spcPts val="500"/>
              </a:spcAft>
              <a:defRPr sz="1100">
                <a:solidFill>
                  <a:srgbClr val="334155"/>
                </a:solidFill>
                <a:latin typeface="Calibri"/>
              </a:defRPr>
            </a:pPr>
            <a:r>
              <a:t>• Output 1: Dynamic Supply Risk Position (LOW, MODERATE, HIGH RISK).</a:t>
            </a:r>
          </a:p>
          <a:p>
            <a:pPr>
              <a:spcAft>
                <a:spcPts val="500"/>
              </a:spcAft>
              <a:defRPr sz="1100">
                <a:solidFill>
                  <a:srgbClr val="334155"/>
                </a:solidFill>
                <a:latin typeface="Calibri"/>
              </a:defRPr>
            </a:pPr>
            <a:r>
              <a:t>• Output 2: Exact minimum score required in the 100-mark End Semester Exam for EVERY KTU Grade:</a:t>
            </a:r>
          </a:p>
          <a:p>
            <a:pPr>
              <a:spcAft>
                <a:spcPts val="500"/>
              </a:spcAft>
              <a:defRPr sz="1100">
                <a:solidFill>
                  <a:srgbClr val="334155"/>
                </a:solidFill>
                <a:latin typeface="Calibri"/>
              </a:defRPr>
            </a:pPr>
            <a:r>
              <a:t>•    • Grade O (&gt;=90%): Need 78 / 100 in ESA</a:t>
            </a:r>
          </a:p>
          <a:p>
            <a:pPr>
              <a:spcAft>
                <a:spcPts val="500"/>
              </a:spcAft>
              <a:defRPr sz="1100">
                <a:solidFill>
                  <a:srgbClr val="334155"/>
                </a:solidFill>
                <a:latin typeface="Calibri"/>
              </a:defRPr>
            </a:pPr>
            <a:r>
              <a:t>•    • Grade A+ (&gt;=85%): Need 70 / 100 in ESA</a:t>
            </a:r>
          </a:p>
          <a:p>
            <a:pPr>
              <a:spcAft>
                <a:spcPts val="500"/>
              </a:spcAft>
              <a:defRPr sz="1100">
                <a:solidFill>
                  <a:srgbClr val="334155"/>
                </a:solidFill>
                <a:latin typeface="Calibri"/>
              </a:defRPr>
            </a:pPr>
            <a:r>
              <a:t>•    • Grade A (&gt;=80%): Need 63 / 100 in ESA</a:t>
            </a:r>
          </a:p>
          <a:p>
            <a:pPr>
              <a:spcAft>
                <a:spcPts val="500"/>
              </a:spcAft>
              <a:defRPr sz="1100">
                <a:solidFill>
                  <a:srgbClr val="334155"/>
                </a:solidFill>
                <a:latin typeface="Calibri"/>
              </a:defRPr>
            </a:pPr>
            <a:r>
              <a:t>•    • Grade B+ (&gt;=70%): Need 48 / 100 in ESA</a:t>
            </a:r>
          </a:p>
          <a:p>
            <a:pPr>
              <a:spcAft>
                <a:spcPts val="500"/>
              </a:spcAft>
              <a:defRPr sz="1100">
                <a:solidFill>
                  <a:srgbClr val="334155"/>
                </a:solidFill>
                <a:latin typeface="Calibri"/>
              </a:defRPr>
            </a:pPr>
            <a:r>
              <a:t>•    • Grade C (Pass &gt;=50%): Need 40 / 100 in ESA (University Floor)</a:t>
            </a:r>
          </a:p>
          <a:p>
            <a:pPr>
              <a:spcAft>
                <a:spcPts val="500"/>
              </a:spcAft>
              <a:defRPr sz="1100">
                <a:solidFill>
                  <a:srgbClr val="334155"/>
                </a:solidFill>
                <a:latin typeface="Calibri"/>
              </a:defRPr>
            </a:pPr>
            <a:r>
              <a:t>• Eliminates exam anxiety by providing crystal-clear targets.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REGULATORY COMPLIANCE</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The 120 Activity Points Three-Group Auditor</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Guarding students against the most common degree-withholding trap in KTU 2024 Scheme.</a:t>
            </a:r>
          </a:p>
        </p:txBody>
      </p:sp>
      <p:sp>
        <p:nvSpPr>
          <p:cNvPr id="6" name="Rounded Rectangle 5"/>
          <p:cNvSpPr/>
          <p:nvPr/>
        </p:nvSpPr>
        <p:spPr>
          <a:xfrm>
            <a:off x="7315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2926080" cy="4023360"/>
          </a:xfrm>
          <a:prstGeom prst="rect">
            <a:avLst/>
          </a:prstGeom>
          <a:noFill/>
        </p:spPr>
        <p:txBody>
          <a:bodyPr wrap="square">
            <a:spAutoFit/>
          </a:bodyPr>
          <a:lstStyle/>
          <a:p>
            <a:pPr>
              <a:spcAft>
                <a:spcPts val="800"/>
              </a:spcAft>
              <a:defRPr sz="1500" b="1">
                <a:solidFill>
                  <a:srgbClr val="1D4ED8"/>
                </a:solidFill>
                <a:latin typeface="Calibri"/>
              </a:defRPr>
            </a:pPr>
            <a:r>
              <a:t>[GROUP 1]  Group 1: Social &amp; Life Skills</a:t>
            </a:r>
          </a:p>
          <a:p>
            <a:pPr>
              <a:spcAft>
                <a:spcPts val="500"/>
              </a:spcAft>
              <a:defRPr sz="1100">
                <a:solidFill>
                  <a:srgbClr val="334155"/>
                </a:solidFill>
                <a:latin typeface="Calibri"/>
              </a:defRPr>
            </a:pPr>
            <a:r>
              <a:t>• Threshold: Min 40 / Max 60 Pts</a:t>
            </a:r>
          </a:p>
          <a:p>
            <a:pPr>
              <a:spcAft>
                <a:spcPts val="500"/>
              </a:spcAft>
              <a:defRPr sz="1100">
                <a:solidFill>
                  <a:srgbClr val="334155"/>
                </a:solidFill>
                <a:latin typeface="Calibri"/>
              </a:defRPr>
            </a:pPr>
            <a:r>
              <a:t>• NSS Volunteer (2 Yrs + Camp): 60 pts</a:t>
            </a:r>
          </a:p>
          <a:p>
            <a:pPr>
              <a:spcAft>
                <a:spcPts val="500"/>
              </a:spcAft>
              <a:defRPr sz="1100">
                <a:solidFill>
                  <a:srgbClr val="334155"/>
                </a:solidFill>
                <a:latin typeface="Calibri"/>
              </a:defRPr>
            </a:pPr>
            <a:r>
              <a:t>• NCC 'B' or 'C' Certificate: 50 pts</a:t>
            </a:r>
          </a:p>
          <a:p>
            <a:pPr>
              <a:spcAft>
                <a:spcPts val="500"/>
              </a:spcAft>
              <a:defRPr sz="1100">
                <a:solidFill>
                  <a:srgbClr val="334155"/>
                </a:solidFill>
                <a:latin typeface="Calibri"/>
              </a:defRPr>
            </a:pPr>
            <a:r>
              <a:t>• CPR / First Aid / Fire Safety: 20 pts</a:t>
            </a:r>
          </a:p>
          <a:p>
            <a:pPr>
              <a:spcAft>
                <a:spcPts val="500"/>
              </a:spcAft>
              <a:defRPr sz="1100">
                <a:solidFill>
                  <a:srgbClr val="334155"/>
                </a:solidFill>
                <a:latin typeface="Calibri"/>
              </a:defRPr>
            </a:pPr>
            <a:r>
              <a:t>• Four-Wheeler Driving License: 15 pts</a:t>
            </a:r>
          </a:p>
          <a:p>
            <a:pPr>
              <a:spcAft>
                <a:spcPts val="500"/>
              </a:spcAft>
              <a:defRPr sz="1100">
                <a:solidFill>
                  <a:srgbClr val="334155"/>
                </a:solidFill>
                <a:latin typeface="Calibri"/>
              </a:defRPr>
            </a:pPr>
            <a:r>
              <a:t>• Blood Donation: 8 pts (Max 16 pts)</a:t>
            </a:r>
          </a:p>
          <a:p>
            <a:pPr>
              <a:spcAft>
                <a:spcPts val="500"/>
              </a:spcAft>
              <a:defRPr sz="1100">
                <a:solidFill>
                  <a:srgbClr val="334155"/>
                </a:solidFill>
                <a:latin typeface="Calibri"/>
              </a:defRPr>
            </a:pPr>
            <a:r>
              <a:t>• Certified Swimming Course: 15 pts</a:t>
            </a:r>
          </a:p>
          <a:p>
            <a:pPr>
              <a:spcAft>
                <a:spcPts val="500"/>
              </a:spcAft>
              <a:defRPr sz="1100">
                <a:solidFill>
                  <a:srgbClr val="334155"/>
                </a:solidFill>
                <a:latin typeface="Calibri"/>
              </a:defRPr>
            </a:pPr>
            <a:r>
              <a:t>• Tree Planting / Eco Drive: 10 pts</a:t>
            </a:r>
          </a:p>
        </p:txBody>
      </p:sp>
      <p:sp>
        <p:nvSpPr>
          <p:cNvPr id="8" name="Rounded Rectangle 7"/>
          <p:cNvSpPr/>
          <p:nvPr/>
        </p:nvSpPr>
        <p:spPr>
          <a:xfrm>
            <a:off x="43891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2926080" cy="4023360"/>
          </a:xfrm>
          <a:prstGeom prst="rect">
            <a:avLst/>
          </a:prstGeom>
          <a:noFill/>
        </p:spPr>
        <p:txBody>
          <a:bodyPr wrap="square">
            <a:spAutoFit/>
          </a:bodyPr>
          <a:lstStyle/>
          <a:p>
            <a:pPr>
              <a:spcAft>
                <a:spcPts val="800"/>
              </a:spcAft>
              <a:defRPr sz="1500" b="1">
                <a:solidFill>
                  <a:srgbClr val="059669"/>
                </a:solidFill>
                <a:latin typeface="Calibri"/>
              </a:defRPr>
            </a:pPr>
            <a:r>
              <a:t>[GROUP 2]  Group 2: Cultural, Sports &amp; Leadership</a:t>
            </a:r>
          </a:p>
          <a:p>
            <a:pPr>
              <a:spcAft>
                <a:spcPts val="500"/>
              </a:spcAft>
              <a:defRPr sz="1100">
                <a:solidFill>
                  <a:srgbClr val="334155"/>
                </a:solidFill>
                <a:latin typeface="Calibri"/>
              </a:defRPr>
            </a:pPr>
            <a:r>
              <a:t>• Threshold: Min 40 / Max 60 Pts</a:t>
            </a:r>
          </a:p>
          <a:p>
            <a:pPr>
              <a:spcAft>
                <a:spcPts val="500"/>
              </a:spcAft>
              <a:defRPr sz="1100">
                <a:solidFill>
                  <a:srgbClr val="334155"/>
                </a:solidFill>
                <a:latin typeface="Calibri"/>
              </a:defRPr>
            </a:pPr>
            <a:r>
              <a:t>• KTU Inter-Collegiate Sports Prize: 40 pts</a:t>
            </a:r>
          </a:p>
          <a:p>
            <a:pPr>
              <a:spcAft>
                <a:spcPts val="500"/>
              </a:spcAft>
              <a:defRPr sz="1100">
                <a:solidFill>
                  <a:srgbClr val="334155"/>
                </a:solidFill>
                <a:latin typeface="Calibri"/>
              </a:defRPr>
            </a:pPr>
            <a:r>
              <a:t>• University Kalolsavam Winner: 40 pts</a:t>
            </a:r>
          </a:p>
          <a:p>
            <a:pPr>
              <a:spcAft>
                <a:spcPts val="500"/>
              </a:spcAft>
              <a:defRPr sz="1100">
                <a:solidFill>
                  <a:srgbClr val="334155"/>
                </a:solidFill>
                <a:latin typeface="Calibri"/>
              </a:defRPr>
            </a:pPr>
            <a:r>
              <a:t>• Elected College Union Leader: 30 pts</a:t>
            </a:r>
          </a:p>
          <a:p>
            <a:pPr>
              <a:spcAft>
                <a:spcPts val="500"/>
              </a:spcAft>
              <a:defRPr sz="1100">
                <a:solidFill>
                  <a:srgbClr val="334155"/>
                </a:solidFill>
                <a:latin typeface="Calibri"/>
              </a:defRPr>
            </a:pPr>
            <a:r>
              <a:t>• Student Club Lead (IEDC/IEEE): 20 pts</a:t>
            </a:r>
          </a:p>
          <a:p>
            <a:pPr>
              <a:spcAft>
                <a:spcPts val="500"/>
              </a:spcAft>
              <a:defRPr sz="1100">
                <a:solidFill>
                  <a:srgbClr val="334155"/>
                </a:solidFill>
                <a:latin typeface="Calibri"/>
              </a:defRPr>
            </a:pPr>
            <a:r>
              <a:t>• College Magazine Editorial: 15 pts</a:t>
            </a:r>
          </a:p>
          <a:p>
            <a:pPr>
              <a:spcAft>
                <a:spcPts val="500"/>
              </a:spcAft>
              <a:defRPr sz="1100">
                <a:solidFill>
                  <a:srgbClr val="334155"/>
                </a:solidFill>
                <a:latin typeface="Calibri"/>
              </a:defRPr>
            </a:pPr>
            <a:r>
              <a:t>• College Arts/Sports Day Winner: 15 pts</a:t>
            </a:r>
          </a:p>
          <a:p>
            <a:pPr>
              <a:spcAft>
                <a:spcPts val="500"/>
              </a:spcAft>
              <a:defRPr sz="1100">
                <a:solidFill>
                  <a:srgbClr val="334155"/>
                </a:solidFill>
                <a:latin typeface="Calibri"/>
              </a:defRPr>
            </a:pPr>
            <a:r>
              <a:t>• Inter-Collegiate Fest Participation: 10 pts</a:t>
            </a:r>
          </a:p>
        </p:txBody>
      </p:sp>
      <p:sp>
        <p:nvSpPr>
          <p:cNvPr id="10" name="Rounded Rectangle 9"/>
          <p:cNvSpPr/>
          <p:nvPr/>
        </p:nvSpPr>
        <p:spPr>
          <a:xfrm>
            <a:off x="80467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57400"/>
            <a:ext cx="2926080" cy="4023360"/>
          </a:xfrm>
          <a:prstGeom prst="rect">
            <a:avLst/>
          </a:prstGeom>
          <a:noFill/>
        </p:spPr>
        <p:txBody>
          <a:bodyPr wrap="square">
            <a:spAutoFit/>
          </a:bodyPr>
          <a:lstStyle/>
          <a:p>
            <a:pPr>
              <a:spcAft>
                <a:spcPts val="800"/>
              </a:spcAft>
              <a:defRPr sz="1500" b="1">
                <a:solidFill>
                  <a:srgbClr val="D97706"/>
                </a:solidFill>
                <a:latin typeface="Calibri"/>
              </a:defRPr>
            </a:pPr>
            <a:r>
              <a:t>[GROUP 3]  Group 3: Professional &amp; Innovation</a:t>
            </a:r>
          </a:p>
          <a:p>
            <a:pPr>
              <a:spcAft>
                <a:spcPts val="500"/>
              </a:spcAft>
              <a:defRPr sz="1100">
                <a:solidFill>
                  <a:srgbClr val="334155"/>
                </a:solidFill>
                <a:latin typeface="Calibri"/>
              </a:defRPr>
            </a:pPr>
            <a:r>
              <a:t>• Threshold: Min 40 / Max 60 Pts</a:t>
            </a:r>
          </a:p>
          <a:p>
            <a:pPr>
              <a:spcAft>
                <a:spcPts val="500"/>
              </a:spcAft>
              <a:defRPr sz="1100">
                <a:solidFill>
                  <a:srgbClr val="334155"/>
                </a:solidFill>
                <a:latin typeface="Calibri"/>
              </a:defRPr>
            </a:pPr>
            <a:r>
              <a:t>• 12-Week NPTEL Online Course: 50 pts</a:t>
            </a:r>
          </a:p>
          <a:p>
            <a:pPr>
              <a:spcAft>
                <a:spcPts val="500"/>
              </a:spcAft>
              <a:defRPr sz="1100">
                <a:solidFill>
                  <a:srgbClr val="334155"/>
                </a:solidFill>
                <a:latin typeface="Calibri"/>
              </a:defRPr>
            </a:pPr>
            <a:r>
              <a:t>• 8-Week NPTEL Course Certificate: 35 pts</a:t>
            </a:r>
          </a:p>
          <a:p>
            <a:pPr>
              <a:spcAft>
                <a:spcPts val="500"/>
              </a:spcAft>
              <a:defRPr sz="1100">
                <a:solidFill>
                  <a:srgbClr val="334155"/>
                </a:solidFill>
                <a:latin typeface="Calibri"/>
              </a:defRPr>
            </a:pPr>
            <a:r>
              <a:t>• Hackathon Winner (State/National): 40 pts</a:t>
            </a:r>
          </a:p>
          <a:p>
            <a:pPr>
              <a:spcAft>
                <a:spcPts val="500"/>
              </a:spcAft>
              <a:defRPr sz="1100">
                <a:solidFill>
                  <a:srgbClr val="334155"/>
                </a:solidFill>
                <a:latin typeface="Calibri"/>
              </a:defRPr>
            </a:pPr>
            <a:r>
              <a:t>• Hackathon Participation (24-36h): 15 pts</a:t>
            </a:r>
          </a:p>
          <a:p>
            <a:pPr>
              <a:spcAft>
                <a:spcPts val="500"/>
              </a:spcAft>
              <a:defRPr sz="1100">
                <a:solidFill>
                  <a:srgbClr val="334155"/>
                </a:solidFill>
                <a:latin typeface="Calibri"/>
              </a:defRPr>
            </a:pPr>
            <a:r>
              <a:t>• Paper Published (Scopus/IEEE): 35 pts</a:t>
            </a:r>
          </a:p>
          <a:p>
            <a:pPr>
              <a:spcAft>
                <a:spcPts val="500"/>
              </a:spcAft>
              <a:defRPr sz="1100">
                <a:solidFill>
                  <a:srgbClr val="334155"/>
                </a:solidFill>
                <a:latin typeface="Calibri"/>
              </a:defRPr>
            </a:pPr>
            <a:r>
              <a:t>• Student Startup Founder (LLP/KSUM): 60 pts</a:t>
            </a:r>
          </a:p>
          <a:p>
            <a:pPr>
              <a:spcAft>
                <a:spcPts val="500"/>
              </a:spcAft>
              <a:defRPr sz="1100">
                <a:solidFill>
                  <a:srgbClr val="334155"/>
                </a:solidFill>
                <a:latin typeface="Calibri"/>
              </a:defRPr>
            </a:pPr>
            <a:r>
              <a:t>• Core Industry Internship (2 Wks): 20 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PEDAGOGICAL INNOVATION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Interactive Engineering Simulation Labs</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Hands-on visualizers embedded directly into the platform to master difficult 10-mark exam problems.</a:t>
            </a:r>
          </a:p>
        </p:txBody>
      </p:sp>
      <p:sp>
        <p:nvSpPr>
          <p:cNvPr id="6" name="Rounded Rectangle 5"/>
          <p:cNvSpPr/>
          <p:nvPr/>
        </p:nvSpPr>
        <p:spPr>
          <a:xfrm>
            <a:off x="7315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2926080" cy="4023360"/>
          </a:xfrm>
          <a:prstGeom prst="rect">
            <a:avLst/>
          </a:prstGeom>
          <a:noFill/>
        </p:spPr>
        <p:txBody>
          <a:bodyPr wrap="square">
            <a:spAutoFit/>
          </a:bodyPr>
          <a:lstStyle/>
          <a:p>
            <a:pPr>
              <a:spcAft>
                <a:spcPts val="800"/>
              </a:spcAft>
              <a:defRPr sz="1500" b="1">
                <a:solidFill>
                  <a:srgbClr val="1D4ED8"/>
                </a:solidFill>
                <a:latin typeface="Calibri"/>
              </a:defRPr>
            </a:pPr>
            <a:r>
              <a:t>[OS LAB]  CPU Scheduling Gantt Lab</a:t>
            </a:r>
          </a:p>
          <a:p>
            <a:pPr>
              <a:spcAft>
                <a:spcPts val="500"/>
              </a:spcAft>
              <a:defRPr sz="1100">
                <a:solidFill>
                  <a:srgbClr val="334155"/>
                </a:solidFill>
                <a:latin typeface="Calibri"/>
              </a:defRPr>
            </a:pPr>
            <a:r>
              <a:t>• Problem: Guaranteed 10-mark question in CST 206 (Operating Systems Module 2).</a:t>
            </a:r>
          </a:p>
          <a:p>
            <a:pPr>
              <a:spcAft>
                <a:spcPts val="500"/>
              </a:spcAft>
              <a:defRPr sz="1100">
                <a:solidFill>
                  <a:srgbClr val="334155"/>
                </a:solidFill>
                <a:latin typeface="Calibri"/>
              </a:defRPr>
            </a:pPr>
            <a:r>
              <a:t>• Interactive Inputs: Configure Arrival times and Burst times for P1-P4.</a:t>
            </a:r>
          </a:p>
          <a:p>
            <a:pPr>
              <a:spcAft>
                <a:spcPts val="500"/>
              </a:spcAft>
              <a:defRPr sz="1100">
                <a:solidFill>
                  <a:srgbClr val="334155"/>
                </a:solidFill>
                <a:latin typeface="Calibri"/>
              </a:defRPr>
            </a:pPr>
            <a:r>
              <a:t>• Dual Algorithms: Simulates FCFS and Round Robin with variable quantum.</a:t>
            </a:r>
          </a:p>
          <a:p>
            <a:pPr>
              <a:spcAft>
                <a:spcPts val="500"/>
              </a:spcAft>
              <a:defRPr sz="1100">
                <a:solidFill>
                  <a:srgbClr val="334155"/>
                </a:solidFill>
                <a:latin typeface="Calibri"/>
              </a:defRPr>
            </a:pPr>
            <a:r>
              <a:t>• Visual Gantt Chart: Real-time graphical execution timeline with Average Waiting and Turnaround times.</a:t>
            </a:r>
          </a:p>
        </p:txBody>
      </p:sp>
      <p:sp>
        <p:nvSpPr>
          <p:cNvPr id="8" name="Rounded Rectangle 7"/>
          <p:cNvSpPr/>
          <p:nvPr/>
        </p:nvSpPr>
        <p:spPr>
          <a:xfrm>
            <a:off x="43891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2926080" cy="4023360"/>
          </a:xfrm>
          <a:prstGeom prst="rect">
            <a:avLst/>
          </a:prstGeom>
          <a:noFill/>
        </p:spPr>
        <p:txBody>
          <a:bodyPr wrap="square">
            <a:spAutoFit/>
          </a:bodyPr>
          <a:lstStyle/>
          <a:p>
            <a:pPr>
              <a:spcAft>
                <a:spcPts val="800"/>
              </a:spcAft>
              <a:defRPr sz="1500" b="1">
                <a:solidFill>
                  <a:srgbClr val="059669"/>
                </a:solidFill>
                <a:latin typeface="Calibri"/>
              </a:defRPr>
            </a:pPr>
            <a:r>
              <a:t>[DIGITAL LOGIC]  4-Variable K-Map Solver</a:t>
            </a:r>
          </a:p>
          <a:p>
            <a:pPr>
              <a:spcAft>
                <a:spcPts val="500"/>
              </a:spcAft>
              <a:defRPr sz="1100">
                <a:solidFill>
                  <a:srgbClr val="334155"/>
                </a:solidFill>
                <a:latin typeface="Calibri"/>
              </a:defRPr>
            </a:pPr>
            <a:r>
              <a:t>• Problem: Guaranteed 10-mark question in CST 203 / ECT 203 (Logic System Design Module 2).</a:t>
            </a:r>
          </a:p>
          <a:p>
            <a:pPr>
              <a:spcAft>
                <a:spcPts val="500"/>
              </a:spcAft>
              <a:defRPr sz="1100">
                <a:solidFill>
                  <a:srgbClr val="334155"/>
                </a:solidFill>
                <a:latin typeface="Calibri"/>
              </a:defRPr>
            </a:pPr>
            <a:r>
              <a:t>• Interactive 16-Cell Grid: Click any cell to toggle states: 0 -&gt; 1 -&gt; X (Don't Care).</a:t>
            </a:r>
          </a:p>
          <a:p>
            <a:pPr>
              <a:spcAft>
                <a:spcPts val="500"/>
              </a:spcAft>
              <a:defRPr sz="1100">
                <a:solidFill>
                  <a:srgbClr val="334155"/>
                </a:solidFill>
                <a:latin typeface="Calibri"/>
              </a:defRPr>
            </a:pPr>
            <a:r>
              <a:t>• Dynamic Minimization: Real-time Gray code mapping (AB down, CD across).</a:t>
            </a:r>
          </a:p>
          <a:p>
            <a:pPr>
              <a:spcAft>
                <a:spcPts val="500"/>
              </a:spcAft>
              <a:defRPr sz="1100">
                <a:solidFill>
                  <a:srgbClr val="334155"/>
                </a:solidFill>
                <a:latin typeface="Calibri"/>
              </a:defRPr>
            </a:pPr>
            <a:r>
              <a:t>• Instant Output: Displays active minterms and simplified Boolean Sum-of-Products (SOP) equation.</a:t>
            </a:r>
          </a:p>
        </p:txBody>
      </p:sp>
      <p:sp>
        <p:nvSpPr>
          <p:cNvPr id="10" name="Rounded Rectangle 9"/>
          <p:cNvSpPr/>
          <p:nvPr/>
        </p:nvSpPr>
        <p:spPr>
          <a:xfrm>
            <a:off x="80467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57400"/>
            <a:ext cx="2926080" cy="4023360"/>
          </a:xfrm>
          <a:prstGeom prst="rect">
            <a:avLst/>
          </a:prstGeom>
          <a:noFill/>
        </p:spPr>
        <p:txBody>
          <a:bodyPr wrap="square">
            <a:spAutoFit/>
          </a:bodyPr>
          <a:lstStyle/>
          <a:p>
            <a:pPr>
              <a:spcAft>
                <a:spcPts val="800"/>
              </a:spcAft>
              <a:defRPr sz="1500" b="1">
                <a:solidFill>
                  <a:srgbClr val="D97706"/>
                </a:solidFill>
                <a:latin typeface="Calibri"/>
              </a:defRPr>
            </a:pPr>
            <a:r>
              <a:t>[DATA STRUCTURES]  Binary Search Tree (BST) Lab</a:t>
            </a:r>
          </a:p>
          <a:p>
            <a:pPr>
              <a:spcAft>
                <a:spcPts val="500"/>
              </a:spcAft>
              <a:defRPr sz="1100">
                <a:solidFill>
                  <a:srgbClr val="334155"/>
                </a:solidFill>
                <a:latin typeface="Calibri"/>
              </a:defRPr>
            </a:pPr>
            <a:r>
              <a:t>• Problem: High-yield question in CST 201 (Data Structures Module 3).</a:t>
            </a:r>
          </a:p>
          <a:p>
            <a:pPr>
              <a:spcAft>
                <a:spcPts val="500"/>
              </a:spcAft>
              <a:defRPr sz="1100">
                <a:solidFill>
                  <a:srgbClr val="334155"/>
                </a:solidFill>
                <a:latin typeface="Calibri"/>
              </a:defRPr>
            </a:pPr>
            <a:r>
              <a:t>• Dynamic Node Insertion: Add custom integer keys to build the tree dynamically.</a:t>
            </a:r>
          </a:p>
          <a:p>
            <a:pPr>
              <a:spcAft>
                <a:spcPts val="500"/>
              </a:spcAft>
              <a:defRPr sz="1100">
                <a:solidFill>
                  <a:srgbClr val="334155"/>
                </a:solidFill>
                <a:latin typeface="Calibri"/>
              </a:defRPr>
            </a:pPr>
            <a:r>
              <a:t>• Live Metrics: Instant computation of Tree Height and Total Node Count.</a:t>
            </a:r>
          </a:p>
          <a:p>
            <a:pPr>
              <a:spcAft>
                <a:spcPts val="500"/>
              </a:spcAft>
              <a:defRPr sz="1100">
                <a:solidFill>
                  <a:srgbClr val="334155"/>
                </a:solidFill>
                <a:latin typeface="Calibri"/>
              </a:defRPr>
            </a:pPr>
            <a:r>
              <a:t>• All 3 Traversals: Generates Inorder (Sorted), Preorder, and Postorder sequences with full mathematical formatting.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EXAM STRATEGY</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10-Mark Model Answer Architect &amp; Revision Notebook</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Cracking the university evaluator's rubric to guarantee maximum marks.</a:t>
            </a:r>
          </a:p>
        </p:txBody>
      </p:sp>
      <p:sp>
        <p:nvSpPr>
          <p:cNvPr id="6" name="Rounded Rectangle 5"/>
          <p:cNvSpPr/>
          <p:nvPr/>
        </p:nvSpPr>
        <p:spPr>
          <a:xfrm>
            <a:off x="731520" y="1920240"/>
            <a:ext cx="51206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754880" cy="4023360"/>
          </a:xfrm>
          <a:prstGeom prst="rect">
            <a:avLst/>
          </a:prstGeom>
          <a:noFill/>
        </p:spPr>
        <p:txBody>
          <a:bodyPr wrap="square">
            <a:spAutoFit/>
          </a:bodyPr>
          <a:lstStyle/>
          <a:p>
            <a:pPr>
              <a:spcAft>
                <a:spcPts val="800"/>
              </a:spcAft>
              <a:defRPr sz="1500" b="1">
                <a:solidFill>
                  <a:srgbClr val="1D4ED8"/>
                </a:solidFill>
                <a:latin typeface="Calibri"/>
              </a:defRPr>
            </a:pPr>
            <a:r>
              <a:t>[SCORING RUBRIC]  The 10-Mark Answer Architect</a:t>
            </a:r>
          </a:p>
          <a:p>
            <a:pPr>
              <a:spcAft>
                <a:spcPts val="500"/>
              </a:spcAft>
              <a:defRPr sz="1100">
                <a:solidFill>
                  <a:srgbClr val="334155"/>
                </a:solidFill>
                <a:latin typeface="Calibri"/>
              </a:defRPr>
            </a:pPr>
            <a:r>
              <a:t>• Evaluator's Secret: KTU valuation schemes assign fractional marks across distinct rubrics (Diagram: 2m, Steps: 4m, Verification: 2m, Conclusion: 2m).</a:t>
            </a:r>
          </a:p>
          <a:p>
            <a:pPr>
              <a:spcAft>
                <a:spcPts val="500"/>
              </a:spcAft>
              <a:defRPr sz="1100">
                <a:solidFill>
                  <a:srgbClr val="334155"/>
                </a:solidFill>
                <a:latin typeface="Calibri"/>
              </a:defRPr>
            </a:pPr>
            <a:r>
              <a:t>• Recommended Time Allocation: 12 to 14 minutes per 10-mark question.</a:t>
            </a:r>
          </a:p>
          <a:p>
            <a:pPr>
              <a:spcAft>
                <a:spcPts val="500"/>
              </a:spcAft>
              <a:defRPr sz="1100">
                <a:solidFill>
                  <a:srgbClr val="334155"/>
                </a:solidFill>
                <a:latin typeface="Calibri"/>
              </a:defRPr>
            </a:pPr>
            <a:r>
              <a:t>• Pre-Crafted Model Blueprints for All Branches:</a:t>
            </a:r>
          </a:p>
          <a:p>
            <a:pPr>
              <a:spcAft>
                <a:spcPts val="500"/>
              </a:spcAft>
              <a:defRPr sz="1100">
                <a:solidFill>
                  <a:srgbClr val="334155"/>
                </a:solidFill>
                <a:latin typeface="Calibri"/>
              </a:defRPr>
            </a:pPr>
            <a:r>
              <a:t>•    • CSE: Banker's Deadlock Avoidance Algorithm</a:t>
            </a:r>
          </a:p>
          <a:p>
            <a:pPr>
              <a:spcAft>
                <a:spcPts val="500"/>
              </a:spcAft>
              <a:defRPr sz="1100">
                <a:solidFill>
                  <a:srgbClr val="334155"/>
                </a:solidFill>
                <a:latin typeface="Calibri"/>
              </a:defRPr>
            </a:pPr>
            <a:r>
              <a:t>•    • CSE/ECE: 4-Variable K-Map Minimization &amp; Logic Circuit</a:t>
            </a:r>
          </a:p>
          <a:p>
            <a:pPr>
              <a:spcAft>
                <a:spcPts val="500"/>
              </a:spcAft>
              <a:defRPr sz="1100">
                <a:solidFill>
                  <a:srgbClr val="334155"/>
                </a:solidFill>
                <a:latin typeface="Calibri"/>
              </a:defRPr>
            </a:pPr>
            <a:r>
              <a:t>•    • MECH: Diesel Cycle Air Standard Efficiency Derivation</a:t>
            </a:r>
          </a:p>
          <a:p>
            <a:pPr>
              <a:spcAft>
                <a:spcPts val="500"/>
              </a:spcAft>
              <a:defRPr sz="1100">
                <a:solidFill>
                  <a:srgbClr val="334155"/>
                </a:solidFill>
                <a:latin typeface="Calibri"/>
              </a:defRPr>
            </a:pPr>
            <a:r>
              <a:t>•    • CE: Simply Supported Beam SFD &amp; BMD with UDL</a:t>
            </a:r>
          </a:p>
          <a:p>
            <a:pPr>
              <a:spcAft>
                <a:spcPts val="500"/>
              </a:spcAft>
              <a:defRPr sz="1100">
                <a:solidFill>
                  <a:srgbClr val="334155"/>
                </a:solidFill>
                <a:latin typeface="Calibri"/>
              </a:defRPr>
            </a:pPr>
            <a:r>
              <a:t>• Teaches students how to structure answers to secure full 10/10 marks.</a:t>
            </a:r>
          </a:p>
        </p:txBody>
      </p:sp>
      <p:sp>
        <p:nvSpPr>
          <p:cNvPr id="8" name="Rounded Rectangle 7"/>
          <p:cNvSpPr/>
          <p:nvPr/>
        </p:nvSpPr>
        <p:spPr>
          <a:xfrm>
            <a:off x="6217920" y="1920240"/>
            <a:ext cx="521208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057400"/>
            <a:ext cx="4846320" cy="4023360"/>
          </a:xfrm>
          <a:prstGeom prst="rect">
            <a:avLst/>
          </a:prstGeom>
          <a:noFill/>
        </p:spPr>
        <p:txBody>
          <a:bodyPr wrap="square">
            <a:spAutoFit/>
          </a:bodyPr>
          <a:lstStyle/>
          <a:p>
            <a:pPr>
              <a:spcAft>
                <a:spcPts val="800"/>
              </a:spcAft>
              <a:defRPr sz="1500" b="1">
                <a:solidFill>
                  <a:srgbClr val="D97706"/>
                </a:solidFill>
                <a:latin typeface="Calibri"/>
              </a:defRPr>
            </a:pPr>
            <a:r>
              <a:t>[ACTIVE RECALL]  Markdown Revision Notebook with KaTeX</a:t>
            </a:r>
          </a:p>
          <a:p>
            <a:pPr>
              <a:spcAft>
                <a:spcPts val="500"/>
              </a:spcAft>
              <a:defRPr sz="1100">
                <a:solidFill>
                  <a:srgbClr val="334155"/>
                </a:solidFill>
                <a:latin typeface="Calibri"/>
              </a:defRPr>
            </a:pPr>
            <a:r>
              <a:t>• Built-in engineering notebook for lecture notes and last-minute revision sheets.</a:t>
            </a:r>
          </a:p>
          <a:p>
            <a:pPr>
              <a:spcAft>
                <a:spcPts val="500"/>
              </a:spcAft>
              <a:defRPr sz="1100">
                <a:solidFill>
                  <a:srgbClr val="334155"/>
                </a:solidFill>
                <a:latin typeface="Calibri"/>
              </a:defRPr>
            </a:pPr>
            <a:r>
              <a:t>• Real-time KaTeX rendering for complex mathematical equations, integrals, matrices, and greek letters.</a:t>
            </a:r>
          </a:p>
          <a:p>
            <a:pPr>
              <a:spcAft>
                <a:spcPts val="500"/>
              </a:spcAft>
              <a:defRPr sz="1100">
                <a:solidFill>
                  <a:srgbClr val="334155"/>
                </a:solidFill>
                <a:latin typeface="Calibri"/>
              </a:defRPr>
            </a:pPr>
            <a:r>
              <a:t>• Pre-loaded with high-yield revision summaries for CST 201 (Infix to Postfix) and CST 206 (Banker's Algorithm).</a:t>
            </a:r>
          </a:p>
          <a:p>
            <a:pPr>
              <a:spcAft>
                <a:spcPts val="500"/>
              </a:spcAft>
              <a:defRPr sz="1100">
                <a:solidFill>
                  <a:srgbClr val="334155"/>
                </a:solidFill>
                <a:latin typeface="Calibri"/>
              </a:defRPr>
            </a:pPr>
            <a:r>
              <a:t>• Client-side auto-save and local persistence with zero server lag.</a:t>
            </a:r>
          </a:p>
          <a:p>
            <a:pPr>
              <a:spcAft>
                <a:spcPts val="500"/>
              </a:spcAft>
              <a:defRPr sz="1100">
                <a:solidFill>
                  <a:srgbClr val="334155"/>
                </a:solidFill>
                <a:latin typeface="Calibri"/>
              </a:defRPr>
            </a:pPr>
            <a:r>
              <a:t>• One-click revision card creation with tag categorization.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TECHNICAL EXCELLENCE</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Engineering Architecture &amp; Software Craftsmanship</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Built with modern web standards, modular microframework architecture, and clean responsive design.</a:t>
            </a:r>
          </a:p>
        </p:txBody>
      </p:sp>
      <p:sp>
        <p:nvSpPr>
          <p:cNvPr id="6" name="Rounded Rectangle 5"/>
          <p:cNvSpPr/>
          <p:nvPr/>
        </p:nvSpPr>
        <p:spPr>
          <a:xfrm>
            <a:off x="7315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2926080" cy="4023360"/>
          </a:xfrm>
          <a:prstGeom prst="rect">
            <a:avLst/>
          </a:prstGeom>
          <a:noFill/>
        </p:spPr>
        <p:txBody>
          <a:bodyPr wrap="square">
            <a:spAutoFit/>
          </a:bodyPr>
          <a:lstStyle/>
          <a:p>
            <a:pPr>
              <a:spcAft>
                <a:spcPts val="800"/>
              </a:spcAft>
              <a:defRPr sz="1500" b="1">
                <a:solidFill>
                  <a:srgbClr val="1D4ED8"/>
                </a:solidFill>
                <a:latin typeface="Calibri"/>
              </a:defRPr>
            </a:pPr>
            <a:r>
              <a:t>[PYTHON / FLASK]  Modular Backend Engine</a:t>
            </a:r>
          </a:p>
          <a:p>
            <a:pPr>
              <a:spcAft>
                <a:spcPts val="500"/>
              </a:spcAft>
              <a:defRPr sz="1100">
                <a:solidFill>
                  <a:srgbClr val="334155"/>
                </a:solidFill>
                <a:latin typeface="Calibri"/>
              </a:defRPr>
            </a:pPr>
            <a:r>
              <a:t>• Python 3.14 + Flask Microframework.</a:t>
            </a:r>
          </a:p>
          <a:p>
            <a:pPr>
              <a:spcAft>
                <a:spcPts val="500"/>
              </a:spcAft>
              <a:defRPr sz="1100">
                <a:solidFill>
                  <a:srgbClr val="334155"/>
                </a:solidFill>
                <a:latin typeface="Calibri"/>
              </a:defRPr>
            </a:pPr>
            <a:r>
              <a:t>• Clean Blueprint Architecture: separate routes for courses, calculators, activity points, simulations, and notes.</a:t>
            </a:r>
          </a:p>
          <a:p>
            <a:pPr>
              <a:spcAft>
                <a:spcPts val="500"/>
              </a:spcAft>
              <a:defRPr sz="1100">
                <a:solidFill>
                  <a:srgbClr val="334155"/>
                </a:solidFill>
                <a:latin typeface="Calibri"/>
              </a:defRPr>
            </a:pPr>
            <a:r>
              <a:t>• Assembler Pipeline: Modular branch builders compiled into high-efficiency data catalogs.</a:t>
            </a:r>
          </a:p>
          <a:p>
            <a:pPr>
              <a:spcAft>
                <a:spcPts val="500"/>
              </a:spcAft>
              <a:defRPr sz="1100">
                <a:solidFill>
                  <a:srgbClr val="334155"/>
                </a:solidFill>
                <a:latin typeface="Calibri"/>
              </a:defRPr>
            </a:pPr>
            <a:r>
              <a:t>• Sub-millisecond API response latency (&lt;15ms) with zero heavy external database overhead.</a:t>
            </a:r>
          </a:p>
        </p:txBody>
      </p:sp>
      <p:sp>
        <p:nvSpPr>
          <p:cNvPr id="8" name="Rounded Rectangle 7"/>
          <p:cNvSpPr/>
          <p:nvPr/>
        </p:nvSpPr>
        <p:spPr>
          <a:xfrm>
            <a:off x="43891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2926080" cy="4023360"/>
          </a:xfrm>
          <a:prstGeom prst="rect">
            <a:avLst/>
          </a:prstGeom>
          <a:noFill/>
        </p:spPr>
        <p:txBody>
          <a:bodyPr wrap="square">
            <a:spAutoFit/>
          </a:bodyPr>
          <a:lstStyle/>
          <a:p>
            <a:pPr>
              <a:spcAft>
                <a:spcPts val="800"/>
              </a:spcAft>
              <a:defRPr sz="1500" b="1">
                <a:solidFill>
                  <a:srgbClr val="059669"/>
                </a:solidFill>
                <a:latin typeface="Calibri"/>
              </a:defRPr>
            </a:pPr>
            <a:r>
              <a:t>[DESIGN SYSTEM]  Clean Executive UI System</a:t>
            </a:r>
          </a:p>
          <a:p>
            <a:pPr>
              <a:spcAft>
                <a:spcPts val="500"/>
              </a:spcAft>
              <a:defRPr sz="1100">
                <a:solidFill>
                  <a:srgbClr val="334155"/>
                </a:solidFill>
                <a:latin typeface="Calibri"/>
              </a:defRPr>
            </a:pPr>
            <a:r>
              <a:t>• 4 Curated Theme Presets:</a:t>
            </a:r>
          </a:p>
          <a:p>
            <a:pPr>
              <a:spcAft>
                <a:spcPts val="500"/>
              </a:spcAft>
              <a:defRPr sz="1100">
                <a:solidFill>
                  <a:srgbClr val="334155"/>
                </a:solidFill>
                <a:latin typeface="Calibri"/>
              </a:defRPr>
            </a:pPr>
            <a:r>
              <a:t>•    • Royal Obsidian (Indigo &amp; Amber)</a:t>
            </a:r>
          </a:p>
          <a:p>
            <a:pPr>
              <a:spcAft>
                <a:spcPts val="500"/>
              </a:spcAft>
              <a:defRPr sz="1100">
                <a:solidFill>
                  <a:srgbClr val="334155"/>
                </a:solidFill>
                <a:latin typeface="Calibri"/>
              </a:defRPr>
            </a:pPr>
            <a:r>
              <a:t>•    • Cosmic Aurora (Nordic Teal &amp; Rose)</a:t>
            </a:r>
          </a:p>
          <a:p>
            <a:pPr>
              <a:spcAft>
                <a:spcPts val="500"/>
              </a:spcAft>
              <a:defRPr sz="1100">
                <a:solidFill>
                  <a:srgbClr val="334155"/>
                </a:solidFill>
                <a:latin typeface="Calibri"/>
              </a:defRPr>
            </a:pPr>
            <a:r>
              <a:t>•    • Linear Titanium (Carbon &amp; Gold)</a:t>
            </a:r>
          </a:p>
          <a:p>
            <a:pPr>
              <a:spcAft>
                <a:spcPts val="500"/>
              </a:spcAft>
              <a:defRPr sz="1100">
                <a:solidFill>
                  <a:srgbClr val="334155"/>
                </a:solidFill>
                <a:latin typeface="Calibri"/>
              </a:defRPr>
            </a:pPr>
            <a:r>
              <a:t>•    • Oxford Emerald (Jade &amp; Bronze)</a:t>
            </a:r>
          </a:p>
          <a:p>
            <a:pPr>
              <a:spcAft>
                <a:spcPts val="500"/>
              </a:spcAft>
              <a:defRPr sz="1100">
                <a:solidFill>
                  <a:srgbClr val="334155"/>
                </a:solidFill>
                <a:latin typeface="Calibri"/>
              </a:defRPr>
            </a:pPr>
            <a:r>
              <a:t>• Frosted glass surfaces with crisp edge bevels.</a:t>
            </a:r>
          </a:p>
          <a:p>
            <a:pPr>
              <a:spcAft>
                <a:spcPts val="500"/>
              </a:spcAft>
              <a:defRPr sz="1100">
                <a:solidFill>
                  <a:srgbClr val="334155"/>
                </a:solidFill>
                <a:latin typeface="Calibri"/>
              </a:defRPr>
            </a:pPr>
            <a:r>
              <a:t>• Typography: Plus Jakarta Sans + Outfit + JetBrains Mono.</a:t>
            </a:r>
          </a:p>
        </p:txBody>
      </p:sp>
      <p:sp>
        <p:nvSpPr>
          <p:cNvPr id="10" name="Rounded Rectangle 9"/>
          <p:cNvSpPr/>
          <p:nvPr/>
        </p:nvSpPr>
        <p:spPr>
          <a:xfrm>
            <a:off x="80467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57400"/>
            <a:ext cx="2926080" cy="4023360"/>
          </a:xfrm>
          <a:prstGeom prst="rect">
            <a:avLst/>
          </a:prstGeom>
          <a:noFill/>
        </p:spPr>
        <p:txBody>
          <a:bodyPr wrap="square">
            <a:spAutoFit/>
          </a:bodyPr>
          <a:lstStyle/>
          <a:p>
            <a:pPr>
              <a:spcAft>
                <a:spcPts val="800"/>
              </a:spcAft>
              <a:defRPr sz="1500" b="1">
                <a:solidFill>
                  <a:srgbClr val="D97706"/>
                </a:solidFill>
                <a:latin typeface="Calibri"/>
              </a:defRPr>
            </a:pPr>
            <a:r>
              <a:t>[FRONTEND STACK]  Zero-Lag Client Technologies</a:t>
            </a:r>
          </a:p>
          <a:p>
            <a:pPr>
              <a:spcAft>
                <a:spcPts val="500"/>
              </a:spcAft>
              <a:defRPr sz="1100">
                <a:solidFill>
                  <a:srgbClr val="334155"/>
                </a:solidFill>
                <a:latin typeface="Calibri"/>
              </a:defRPr>
            </a:pPr>
            <a:r>
              <a:t>• Web Audio API: Synthesizes tactile micro-sound clicks and success chimes dynamically with zero audio assets.</a:t>
            </a:r>
          </a:p>
          <a:p>
            <a:pPr>
              <a:spcAft>
                <a:spcPts val="500"/>
              </a:spcAft>
              <a:defRPr sz="1100">
                <a:solidFill>
                  <a:srgbClr val="334155"/>
                </a:solidFill>
                <a:latin typeface="Calibri"/>
              </a:defRPr>
            </a:pPr>
            <a:r>
              <a:t>• KaTeX Engine: Fast mathematical typesetting directly in the browser.</a:t>
            </a:r>
          </a:p>
          <a:p>
            <a:pPr>
              <a:spcAft>
                <a:spcPts val="500"/>
              </a:spcAft>
              <a:defRPr sz="1100">
                <a:solidFill>
                  <a:srgbClr val="334155"/>
                </a:solidFill>
                <a:latin typeface="Calibri"/>
              </a:defRPr>
            </a:pPr>
            <a:r>
              <a:t>• Automated Test Suite: 5/5 unit tests passing cleanly in &lt;0.08s verifying calculation math and regulations.</a:t>
            </a:r>
          </a:p>
          <a:p>
            <a:pPr>
              <a:spcAft>
                <a:spcPts val="500"/>
              </a:spcAft>
              <a:defRPr sz="1100">
                <a:solidFill>
                  <a:srgbClr val="334155"/>
                </a:solidFill>
                <a:latin typeface="Calibri"/>
              </a:defRPr>
            </a:pPr>
            <a:r>
              <a:t>• Responsive Layout: Optimized for desktop, iPad, and mobile.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20040"/>
          </a:xfrm>
          <a:prstGeom prst="rect">
            <a:avLst/>
          </a:prstGeom>
          <a:noFill/>
        </p:spPr>
        <p:txBody>
          <a:bodyPr wrap="square">
            <a:spAutoFit/>
          </a:bodyPr>
          <a:lstStyle/>
          <a:p>
            <a:pPr>
              <a:defRPr sz="1000" b="1">
                <a:solidFill>
                  <a:srgbClr val="1D4ED8"/>
                </a:solidFill>
                <a:latin typeface="Calibri"/>
              </a:defRPr>
            </a:pPr>
            <a:r>
              <a:t>IMPACT &amp; VISION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500" b="1">
                <a:solidFill>
                  <a:srgbClr val="0F172A"/>
                </a:solidFill>
                <a:latin typeface="Calibri"/>
              </a:defRPr>
            </a:pPr>
            <a:r>
              <a:t>Target Market, Scalability &amp; Roadmap</a:t>
            </a:r>
          </a:p>
        </p:txBody>
      </p:sp>
      <p:sp>
        <p:nvSpPr>
          <p:cNvPr id="5" name="TextBox 4"/>
          <p:cNvSpPr txBox="1"/>
          <p:nvPr/>
        </p:nvSpPr>
        <p:spPr>
          <a:xfrm>
            <a:off x="731520" y="1325880"/>
            <a:ext cx="10698480" cy="411480"/>
          </a:xfrm>
          <a:prstGeom prst="rect">
            <a:avLst/>
          </a:prstGeom>
          <a:noFill/>
        </p:spPr>
        <p:txBody>
          <a:bodyPr wrap="square">
            <a:spAutoFit/>
          </a:bodyPr>
          <a:lstStyle/>
          <a:p>
            <a:pPr>
              <a:defRPr sz="1200">
                <a:solidFill>
                  <a:srgbClr val="64748B"/>
                </a:solidFill>
                <a:latin typeface="Calibri"/>
              </a:defRPr>
            </a:pPr>
            <a:r>
              <a:t>Transforming engineering education across Kerala and expanding across technical state universities.</a:t>
            </a:r>
          </a:p>
        </p:txBody>
      </p:sp>
      <p:sp>
        <p:nvSpPr>
          <p:cNvPr id="6" name="Rounded Rectangle 5"/>
          <p:cNvSpPr/>
          <p:nvPr/>
        </p:nvSpPr>
        <p:spPr>
          <a:xfrm>
            <a:off x="7315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2926080" cy="4023360"/>
          </a:xfrm>
          <a:prstGeom prst="rect">
            <a:avLst/>
          </a:prstGeom>
          <a:noFill/>
        </p:spPr>
        <p:txBody>
          <a:bodyPr wrap="square">
            <a:spAutoFit/>
          </a:bodyPr>
          <a:lstStyle/>
          <a:p>
            <a:pPr>
              <a:spcAft>
                <a:spcPts val="800"/>
              </a:spcAft>
              <a:defRPr sz="1500" b="1">
                <a:solidFill>
                  <a:srgbClr val="1D4ED8"/>
                </a:solidFill>
                <a:latin typeface="Calibri"/>
              </a:defRPr>
            </a:pPr>
            <a:r>
              <a:t>[MARKET SIZE]  Immediate Market Impact</a:t>
            </a:r>
          </a:p>
          <a:p>
            <a:pPr>
              <a:spcAft>
                <a:spcPts val="500"/>
              </a:spcAft>
              <a:defRPr sz="1100">
                <a:solidFill>
                  <a:srgbClr val="334155"/>
                </a:solidFill>
                <a:latin typeface="Calibri"/>
              </a:defRPr>
            </a:pPr>
            <a:r>
              <a:t>• Primary Audience: 150,000+ B.Tech students across 150+ affiliated engineering colleges under KTU.</a:t>
            </a:r>
          </a:p>
          <a:p>
            <a:pPr>
              <a:spcAft>
                <a:spcPts val="500"/>
              </a:spcAft>
              <a:defRPr sz="1100">
                <a:solidFill>
                  <a:srgbClr val="334155"/>
                </a:solidFill>
                <a:latin typeface="Calibri"/>
              </a:defRPr>
            </a:pPr>
            <a:r>
              <a:t>• Eliminates Degree Withholding: Solves the 120-point deficit trap before students reach final semester.</a:t>
            </a:r>
          </a:p>
          <a:p>
            <a:pPr>
              <a:spcAft>
                <a:spcPts val="500"/>
              </a:spcAft>
              <a:defRPr sz="1100">
                <a:solidFill>
                  <a:srgbClr val="334155"/>
                </a:solidFill>
                <a:latin typeface="Calibri"/>
              </a:defRPr>
            </a:pPr>
            <a:r>
              <a:t>• Drastically Reduces Supplies: Early warning system prevents failure in university examinations.</a:t>
            </a:r>
          </a:p>
          <a:p>
            <a:pPr>
              <a:spcAft>
                <a:spcPts val="500"/>
              </a:spcAft>
              <a:defRPr sz="1100">
                <a:solidFill>
                  <a:srgbClr val="334155"/>
                </a:solidFill>
                <a:latin typeface="Calibri"/>
              </a:defRPr>
            </a:pPr>
            <a:r>
              <a:t>• Zero barrier to entry: Free and accessible to any student with a browser.</a:t>
            </a:r>
          </a:p>
        </p:txBody>
      </p:sp>
      <p:sp>
        <p:nvSpPr>
          <p:cNvPr id="8" name="Rounded Rectangle 7"/>
          <p:cNvSpPr/>
          <p:nvPr/>
        </p:nvSpPr>
        <p:spPr>
          <a:xfrm>
            <a:off x="43891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2926080" cy="4023360"/>
          </a:xfrm>
          <a:prstGeom prst="rect">
            <a:avLst/>
          </a:prstGeom>
          <a:noFill/>
        </p:spPr>
        <p:txBody>
          <a:bodyPr wrap="square">
            <a:spAutoFit/>
          </a:bodyPr>
          <a:lstStyle/>
          <a:p>
            <a:pPr>
              <a:spcAft>
                <a:spcPts val="800"/>
              </a:spcAft>
              <a:defRPr sz="1500" b="1">
                <a:solidFill>
                  <a:srgbClr val="059669"/>
                </a:solidFill>
                <a:latin typeface="Calibri"/>
              </a:defRPr>
            </a:pPr>
            <a:r>
              <a:t>[ROADMAP]  Future Product Roadmap</a:t>
            </a:r>
          </a:p>
          <a:p>
            <a:pPr>
              <a:spcAft>
                <a:spcPts val="500"/>
              </a:spcAft>
              <a:defRPr sz="1100">
                <a:solidFill>
                  <a:srgbClr val="334155"/>
                </a:solidFill>
                <a:latin typeface="Calibri"/>
              </a:defRPr>
            </a:pPr>
            <a:r>
              <a:t>• Phase 1 (Completed): Full S1-S8 5-Branch curricula, 120-pt auditor, CIE predictor, labs, clean theme.</a:t>
            </a:r>
          </a:p>
          <a:p>
            <a:pPr>
              <a:spcAft>
                <a:spcPts val="500"/>
              </a:spcAft>
              <a:defRPr sz="1100">
                <a:solidFill>
                  <a:srgbClr val="334155"/>
                </a:solidFill>
                <a:latin typeface="Calibri"/>
              </a:defRPr>
            </a:pPr>
            <a:r>
              <a:t>• Phase 2 (Q1 2027): AI-Powered Question Paper Predictor analyzing 5 years of exam trends.</a:t>
            </a:r>
          </a:p>
          <a:p>
            <a:pPr>
              <a:spcAft>
                <a:spcPts val="500"/>
              </a:spcAft>
              <a:defRPr sz="1100">
                <a:solidFill>
                  <a:srgbClr val="334155"/>
                </a:solidFill>
                <a:latin typeface="Calibri"/>
              </a:defRPr>
            </a:pPr>
            <a:r>
              <a:t>• Phase 3 (Q2 2027): Cross-platform Flutter mobile app with offline revision flashcards.</a:t>
            </a:r>
          </a:p>
          <a:p>
            <a:pPr>
              <a:spcAft>
                <a:spcPts val="500"/>
              </a:spcAft>
              <a:defRPr sz="1100">
                <a:solidFill>
                  <a:srgbClr val="334155"/>
                </a:solidFill>
                <a:latin typeface="Calibri"/>
              </a:defRPr>
            </a:pPr>
            <a:r>
              <a:t>• Phase 4 (Q3 2027): Faculty portal for uploading verified internal marks directly.</a:t>
            </a:r>
          </a:p>
        </p:txBody>
      </p:sp>
      <p:sp>
        <p:nvSpPr>
          <p:cNvPr id="10" name="Rounded Rectangle 9"/>
          <p:cNvSpPr/>
          <p:nvPr/>
        </p:nvSpPr>
        <p:spPr>
          <a:xfrm>
            <a:off x="8046720" y="1920240"/>
            <a:ext cx="32918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57400"/>
            <a:ext cx="2926080" cy="4023360"/>
          </a:xfrm>
          <a:prstGeom prst="rect">
            <a:avLst/>
          </a:prstGeom>
          <a:noFill/>
        </p:spPr>
        <p:txBody>
          <a:bodyPr wrap="square">
            <a:spAutoFit/>
          </a:bodyPr>
          <a:lstStyle/>
          <a:p>
            <a:pPr>
              <a:spcAft>
                <a:spcPts val="800"/>
              </a:spcAft>
              <a:defRPr sz="1500" b="1">
                <a:solidFill>
                  <a:srgbClr val="D97706"/>
                </a:solidFill>
                <a:latin typeface="Calibri"/>
              </a:defRPr>
            </a:pPr>
            <a:r>
              <a:t>[SCALABILITY]  Inter-University Scalability</a:t>
            </a:r>
          </a:p>
          <a:p>
            <a:pPr>
              <a:spcAft>
                <a:spcPts val="500"/>
              </a:spcAft>
              <a:defRPr sz="1100">
                <a:solidFill>
                  <a:srgbClr val="334155"/>
                </a:solidFill>
                <a:latin typeface="Calibri"/>
              </a:defRPr>
            </a:pPr>
            <a:r>
              <a:t>• Modular Curriculum Architecture: Data schemas are completely decoupled from UI.</a:t>
            </a:r>
          </a:p>
          <a:p>
            <a:pPr>
              <a:spcAft>
                <a:spcPts val="500"/>
              </a:spcAft>
              <a:defRPr sz="1100">
                <a:solidFill>
                  <a:srgbClr val="334155"/>
                </a:solidFill>
                <a:latin typeface="Calibri"/>
              </a:defRPr>
            </a:pPr>
            <a:r>
              <a:t>• Pluggable Regulations Engine: Easy adaptation to Visvesvaraya Technological University (VTU), Anna University, and JNTU.</a:t>
            </a:r>
          </a:p>
          <a:p>
            <a:pPr>
              <a:spcAft>
                <a:spcPts val="500"/>
              </a:spcAft>
              <a:defRPr sz="1100">
                <a:solidFill>
                  <a:srgbClr val="334155"/>
                </a:solidFill>
                <a:latin typeface="Calibri"/>
              </a:defRPr>
            </a:pPr>
            <a:r>
              <a:t>• NEP 2020 Ready: Standardized credit matrices and multi-disciplinary activity frameworks support any state university.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05840"/>
            <a:ext cx="1097280"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698480" cy="2011680"/>
          </a:xfrm>
          <a:prstGeom prst="rect">
            <a:avLst/>
          </a:prstGeom>
          <a:noFill/>
        </p:spPr>
        <p:txBody>
          <a:bodyPr wrap="square">
            <a:spAutoFit/>
          </a:bodyPr>
          <a:lstStyle/>
          <a:p>
            <a:pPr>
              <a:spcAft>
                <a:spcPts val="800"/>
              </a:spcAft>
              <a:defRPr sz="1100" b="1">
                <a:solidFill>
                  <a:srgbClr val="1D4ED8"/>
                </a:solidFill>
              </a:defRPr>
            </a:pPr>
            <a:r>
              <a:t>DEMONSTRATION &amp; CONCLUSION</a:t>
            </a:r>
          </a:p>
          <a:p>
            <a:pPr>
              <a:spcAft>
                <a:spcPts val="800"/>
              </a:spcAft>
              <a:defRPr sz="4000" b="1">
                <a:solidFill>
                  <a:srgbClr val="0F172A"/>
                </a:solidFill>
              </a:defRPr>
            </a:pPr>
            <a:r>
              <a:t>Experience KTU Nexus Live</a:t>
            </a:r>
          </a:p>
          <a:p>
            <a:pPr>
              <a:defRPr sz="1600">
                <a:solidFill>
                  <a:srgbClr val="1D4ED8"/>
                </a:solidFill>
              </a:defRPr>
            </a:pPr>
            <a:r>
              <a:t>Empowering every B.Tech engineer to graduate on time, with honors, and zero panic.</a:t>
            </a:r>
          </a:p>
        </p:txBody>
      </p:sp>
      <p:sp>
        <p:nvSpPr>
          <p:cNvPr id="5" name="Rounded Rectangle 4"/>
          <p:cNvSpPr/>
          <p:nvPr/>
        </p:nvSpPr>
        <p:spPr>
          <a:xfrm>
            <a:off x="731520" y="3566160"/>
            <a:ext cx="329184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03320"/>
            <a:ext cx="2926080" cy="2377440"/>
          </a:xfrm>
          <a:prstGeom prst="rect">
            <a:avLst/>
          </a:prstGeom>
          <a:noFill/>
        </p:spPr>
        <p:txBody>
          <a:bodyPr wrap="square">
            <a:spAutoFit/>
          </a:bodyPr>
          <a:lstStyle/>
          <a:p>
            <a:pPr>
              <a:spcAft>
                <a:spcPts val="800"/>
              </a:spcAft>
              <a:defRPr sz="1500" b="1">
                <a:solidFill>
                  <a:srgbClr val="1D4ED8"/>
                </a:solidFill>
                <a:latin typeface="Calibri"/>
              </a:defRPr>
            </a:pPr>
            <a:r>
              <a:t>[READY TO DEMO]  Live Local URL</a:t>
            </a:r>
          </a:p>
          <a:p>
            <a:pPr>
              <a:spcAft>
                <a:spcPts val="500"/>
              </a:spcAft>
              <a:defRPr sz="1100">
                <a:solidFill>
                  <a:srgbClr val="334155"/>
                </a:solidFill>
                <a:latin typeface="Calibri"/>
              </a:defRPr>
            </a:pPr>
            <a:r>
              <a:t>• Server: http://127.0.0.1:5000</a:t>
            </a:r>
          </a:p>
          <a:p>
            <a:pPr>
              <a:spcAft>
                <a:spcPts val="500"/>
              </a:spcAft>
              <a:defRPr sz="1100">
                <a:solidFill>
                  <a:srgbClr val="334155"/>
                </a:solidFill>
                <a:latin typeface="Calibri"/>
              </a:defRPr>
            </a:pPr>
            <a:r>
              <a:t>• Fast, local offline execution</a:t>
            </a:r>
          </a:p>
          <a:p>
            <a:pPr>
              <a:spcAft>
                <a:spcPts val="500"/>
              </a:spcAft>
              <a:defRPr sz="1100">
                <a:solidFill>
                  <a:srgbClr val="334155"/>
                </a:solidFill>
                <a:latin typeface="Calibri"/>
              </a:defRPr>
            </a:pPr>
            <a:r>
              <a:t>• Complete REST API Documentation</a:t>
            </a:r>
          </a:p>
          <a:p>
            <a:pPr>
              <a:spcAft>
                <a:spcPts val="500"/>
              </a:spcAft>
              <a:defRPr sz="1100">
                <a:solidFill>
                  <a:srgbClr val="334155"/>
                </a:solidFill>
                <a:latin typeface="Calibri"/>
              </a:defRPr>
            </a:pPr>
            <a:r>
              <a:t>• Integrated automated test suite (5/5 passing)</a:t>
            </a:r>
          </a:p>
        </p:txBody>
      </p:sp>
      <p:sp>
        <p:nvSpPr>
          <p:cNvPr id="7" name="Rounded Rectangle 6"/>
          <p:cNvSpPr/>
          <p:nvPr/>
        </p:nvSpPr>
        <p:spPr>
          <a:xfrm>
            <a:off x="4389120" y="3566160"/>
            <a:ext cx="329184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3703320"/>
            <a:ext cx="2926080" cy="2377440"/>
          </a:xfrm>
          <a:prstGeom prst="rect">
            <a:avLst/>
          </a:prstGeom>
          <a:noFill/>
        </p:spPr>
        <p:txBody>
          <a:bodyPr wrap="square">
            <a:spAutoFit/>
          </a:bodyPr>
          <a:lstStyle/>
          <a:p>
            <a:pPr>
              <a:spcAft>
                <a:spcPts val="800"/>
              </a:spcAft>
              <a:defRPr sz="1500" b="1">
                <a:solidFill>
                  <a:srgbClr val="059669"/>
                </a:solidFill>
                <a:latin typeface="Calibri"/>
              </a:defRPr>
            </a:pPr>
            <a:r>
              <a:t>[SUMMARY]  Key Takeaways</a:t>
            </a:r>
          </a:p>
          <a:p>
            <a:pPr>
              <a:spcAft>
                <a:spcPts val="500"/>
              </a:spcAft>
              <a:defRPr sz="1100">
                <a:solidFill>
                  <a:srgbClr val="334155"/>
                </a:solidFill>
                <a:latin typeface="Calibri"/>
              </a:defRPr>
            </a:pPr>
            <a:r>
              <a:t>• 87 Courses across 5 major branches</a:t>
            </a:r>
          </a:p>
          <a:p>
            <a:pPr>
              <a:spcAft>
                <a:spcPts val="500"/>
              </a:spcAft>
              <a:defRPr sz="1100">
                <a:solidFill>
                  <a:srgbClr val="334155"/>
                </a:solidFill>
                <a:latin typeface="Calibri"/>
              </a:defRPr>
            </a:pPr>
            <a:r>
              <a:t>• Accurate KTU 2024 internal mark math</a:t>
            </a:r>
          </a:p>
          <a:p>
            <a:pPr>
              <a:spcAft>
                <a:spcPts val="500"/>
              </a:spcAft>
              <a:defRPr sz="1100">
                <a:solidFill>
                  <a:srgbClr val="334155"/>
                </a:solidFill>
                <a:latin typeface="Calibri"/>
              </a:defRPr>
            </a:pPr>
            <a:r>
              <a:t>• Strict Three-Group Activity Auditor</a:t>
            </a:r>
          </a:p>
          <a:p>
            <a:pPr>
              <a:spcAft>
                <a:spcPts val="500"/>
              </a:spcAft>
              <a:defRPr sz="1100">
                <a:solidFill>
                  <a:srgbClr val="334155"/>
                </a:solidFill>
                <a:latin typeface="Calibri"/>
              </a:defRPr>
            </a:pPr>
            <a:r>
              <a:t>• 3 Interactive Engineering Simulation Labs</a:t>
            </a:r>
          </a:p>
        </p:txBody>
      </p:sp>
      <p:sp>
        <p:nvSpPr>
          <p:cNvPr id="9" name="Rounded Rectangle 8"/>
          <p:cNvSpPr/>
          <p:nvPr/>
        </p:nvSpPr>
        <p:spPr>
          <a:xfrm>
            <a:off x="8046720" y="3566160"/>
            <a:ext cx="3291840" cy="2651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703320"/>
            <a:ext cx="2926080" cy="2377440"/>
          </a:xfrm>
          <a:prstGeom prst="rect">
            <a:avLst/>
          </a:prstGeom>
          <a:noFill/>
        </p:spPr>
        <p:txBody>
          <a:bodyPr wrap="square">
            <a:spAutoFit/>
          </a:bodyPr>
          <a:lstStyle/>
          <a:p>
            <a:pPr>
              <a:spcAft>
                <a:spcPts val="800"/>
              </a:spcAft>
              <a:defRPr sz="1500" b="1">
                <a:solidFill>
                  <a:srgbClr val="0F172A"/>
                </a:solidFill>
                <a:latin typeface="Calibri"/>
              </a:defRPr>
            </a:pPr>
            <a:r>
              <a:t>[PRESENTERS]  Thank You!</a:t>
            </a:r>
          </a:p>
          <a:p>
            <a:pPr>
              <a:spcAft>
                <a:spcPts val="500"/>
              </a:spcAft>
              <a:defRPr sz="1100">
                <a:solidFill>
                  <a:srgbClr val="334155"/>
                </a:solidFill>
                <a:latin typeface="Calibri"/>
              </a:defRPr>
            </a:pPr>
            <a:r>
              <a:t>• Felix Louie Sojan</a:t>
            </a:r>
          </a:p>
          <a:p>
            <a:pPr>
              <a:spcAft>
                <a:spcPts val="500"/>
              </a:spcAft>
              <a:defRPr sz="1100">
                <a:solidFill>
                  <a:srgbClr val="334155"/>
                </a:solidFill>
                <a:latin typeface="Calibri"/>
              </a:defRPr>
            </a:pPr>
            <a:r>
              <a:t>• Adithya Jobies</a:t>
            </a:r>
          </a:p>
          <a:p>
            <a:pPr>
              <a:spcAft>
                <a:spcPts val="500"/>
              </a:spcAft>
              <a:defRPr sz="1100">
                <a:solidFill>
                  <a:srgbClr val="334155"/>
                </a:solidFill>
                <a:latin typeface="Calibri"/>
              </a:defRPr>
            </a:pPr>
            <a:r>
              <a:t>• Open for Questions &amp; Live Walkthrough</a:t>
            </a:r>
          </a:p>
          <a:p>
            <a:pPr>
              <a:spcAft>
                <a:spcPts val="500"/>
              </a:spcAft>
              <a:defRPr sz="1100">
                <a:solidFill>
                  <a:srgbClr val="334155"/>
                </a:solidFill>
                <a:latin typeface="Calibri"/>
              </a:defRPr>
            </a:pPr>
            <a:r>
              <a:t>• Try the live calculation at 127.0.0.1:5000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